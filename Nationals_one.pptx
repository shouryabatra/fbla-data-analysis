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C879"/>
    <a:srgbClr val="B91C1B"/>
    <a:srgbClr val="0F9185"/>
    <a:srgbClr val="C9A327"/>
    <a:srgbClr val="F5F5F5"/>
    <a:srgbClr val="14706D"/>
    <a:srgbClr val="F0F4F8"/>
    <a:srgbClr val="F6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54BEA-E027-714E-A535-34972179FA38}" v="119" dt="2026-04-09T21:25:48.312"/>
    <p1510:client id="{377C4570-BDD8-F3E5-30E0-696AD22C3042}" v="80" dt="2026-04-09T20:45:48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/>
    <p:restoredTop sz="94652"/>
  </p:normalViewPr>
  <p:slideViewPr>
    <p:cSldViewPr snapToGrid="0">
      <p:cViewPr varScale="1">
        <p:scale>
          <a:sx n="178" d="100"/>
          <a:sy n="178" d="100"/>
        </p:scale>
        <p:origin x="49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Athletes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B01-C243-AECF-50901A02843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01-C243-AECF-50901A02843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7B01-C243-AECF-50901A02843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B01-C243-AECF-50901A02843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7B01-C243-AECF-50901A02843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B01-C243-AECF-50901A02843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7B01-C243-AECF-50901A02843E}"/>
              </c:ext>
            </c:extLst>
          </c:dPt>
          <c:dPt>
            <c:idx val="7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01-C243-AECF-50901A02843E}"/>
              </c:ext>
            </c:extLst>
          </c:dPt>
          <c:dPt>
            <c:idx val="8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B01-C243-AECF-50901A02843E}"/>
              </c:ext>
            </c:extLst>
          </c:dPt>
          <c:dPt>
            <c:idx val="9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B01-C243-AECF-50901A0284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San Fernando Valley</c:v>
                </c:pt>
                <c:pt idx="1">
                  <c:v>Venice</c:v>
                </c:pt>
                <c:pt idx="2">
                  <c:v>Pacific Palisades</c:v>
                </c:pt>
                <c:pt idx="3">
                  <c:v>Arcadia</c:v>
                </c:pt>
                <c:pt idx="4">
                  <c:v>Anaheim</c:v>
                </c:pt>
                <c:pt idx="5">
                  <c:v>Pasadena</c:v>
                </c:pt>
                <c:pt idx="6">
                  <c:v>Inglewood</c:v>
                </c:pt>
                <c:pt idx="7">
                  <c:v>Carson</c:v>
                </c:pt>
                <c:pt idx="8">
                  <c:v>Long Beach</c:v>
                </c:pt>
                <c:pt idx="9">
                  <c:v>Downtown / Expo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</c:v>
                </c:pt>
                <c:pt idx="1">
                  <c:v>110</c:v>
                </c:pt>
                <c:pt idx="2">
                  <c:v>120</c:v>
                </c:pt>
                <c:pt idx="3">
                  <c:v>200</c:v>
                </c:pt>
                <c:pt idx="4">
                  <c:v>283</c:v>
                </c:pt>
                <c:pt idx="5">
                  <c:v>609</c:v>
                </c:pt>
                <c:pt idx="6">
                  <c:v>1223</c:v>
                </c:pt>
                <c:pt idx="7">
                  <c:v>1526</c:v>
                </c:pt>
                <c:pt idx="8">
                  <c:v>2455</c:v>
                </c:pt>
                <c:pt idx="9">
                  <c:v>4581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B01-C243-AECF-50901A0284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Age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D9-B34A-BB09-1A26D8612FC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9D9-B34A-BB09-1A26D8612FCA}"/>
              </c:ext>
            </c:extLst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D9-B34A-BB09-1A26D8612FCA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D9-B34A-BB09-1A26D8612FCA}"/>
              </c:ext>
            </c:extLst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D9-B34A-BB09-1A26D8612FCA}"/>
              </c:ext>
            </c:extLst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9D9-B34A-BB09-1A26D8612FCA}"/>
              </c:ext>
            </c:extLst>
          </c:dPt>
          <c:dPt>
            <c:idx val="6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9D9-B34A-BB09-1A26D8612FCA}"/>
              </c:ext>
            </c:extLst>
          </c:dPt>
          <c:dPt>
            <c:idx val="7"/>
            <c:invertIfNegative val="0"/>
            <c:bubble3D val="0"/>
            <c:spPr>
              <a:solidFill>
                <a:srgbClr val="B9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9D9-B34A-BB09-1A26D8612FCA}"/>
              </c:ext>
            </c:extLst>
          </c:dPt>
          <c:dPt>
            <c:idx val="8"/>
            <c:invertIfNegative val="0"/>
            <c:bubble3D val="0"/>
            <c:spPr>
              <a:solidFill>
                <a:srgbClr val="991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9D9-B34A-BB09-1A26D8612F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Rhythmic Gym.</c:v>
                </c:pt>
                <c:pt idx="1">
                  <c:v>Swimming</c:v>
                </c:pt>
                <c:pt idx="2">
                  <c:v>Athletics</c:v>
                </c:pt>
                <c:pt idx="3">
                  <c:v>Weightlifting</c:v>
                </c:pt>
                <c:pt idx="4">
                  <c:v>Wrestling</c:v>
                </c:pt>
                <c:pt idx="5">
                  <c:v>Cycling</c:v>
                </c:pt>
                <c:pt idx="6">
                  <c:v>Judo</c:v>
                </c:pt>
                <c:pt idx="7">
                  <c:v>Shooting</c:v>
                </c:pt>
                <c:pt idx="8">
                  <c:v>Equestrian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26</c:v>
                </c:pt>
                <c:pt idx="4">
                  <c:v>26</c:v>
                </c:pt>
                <c:pt idx="5">
                  <c:v>27</c:v>
                </c:pt>
                <c:pt idx="6">
                  <c:v>27</c:v>
                </c:pt>
                <c:pt idx="7">
                  <c:v>32</c:v>
                </c:pt>
                <c:pt idx="8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9D9-B34A-BB09-1A26D8612F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14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88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0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31.png"/><Relationship Id="rId9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05D99F46-6CA9-61DF-E976-9BBCE1E32DD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2F59ACF1-5873-96F8-DFBD-6C8B583099D5}"/>
              </a:ext>
            </a:extLst>
          </p:cNvPr>
          <p:cNvSpPr/>
          <p:nvPr/>
        </p:nvSpPr>
        <p:spPr>
          <a:xfrm>
            <a:off x="329184" y="64008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the</a:t>
            </a:r>
            <a:endParaRPr lang="en-US" sz="5200"/>
          </a:p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Olympics</a:t>
            </a:r>
            <a:endParaRPr lang="en-US" sz="520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67981865-30CA-35CA-8AA3-881825E9F3FE}"/>
              </a:ext>
            </a:extLst>
          </p:cNvPr>
          <p:cNvSpPr/>
          <p:nvPr/>
        </p:nvSpPr>
        <p:spPr>
          <a:xfrm>
            <a:off x="371388" y="22874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historical data to drive smarter planning for athletes, host cities, and NOCs</a:t>
            </a:r>
            <a:endParaRPr lang="en-US" sz="16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8EF2FDD-AABE-9328-BAA5-143D1B8F639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1B48B8-3F3A-E740-C3C0-9E418C8CFD6C}"/>
              </a:ext>
            </a:extLst>
          </p:cNvPr>
          <p:cNvSpPr/>
          <p:nvPr/>
        </p:nvSpPr>
        <p:spPr>
          <a:xfrm>
            <a:off x="329184" y="64008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the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Olympics</a:t>
            </a:r>
            <a:endParaRPr lang="en-US" sz="5200" dirty="0"/>
          </a:p>
        </p:txBody>
      </p:sp>
      <p:sp>
        <p:nvSpPr>
          <p:cNvPr id="6" name="Text Names">
            <a:extLst>
              <a:ext uri="{FF2B5EF4-FFF2-40B4-BE49-F238E27FC236}">
                <a16:creationId xmlns:a16="http://schemas.microsoft.com/office/drawing/2014/main" id="{7574976C-F110-E804-EDEB-E1D67857E519}"/>
              </a:ext>
            </a:extLst>
          </p:cNvPr>
          <p:cNvSpPr/>
          <p:nvPr/>
        </p:nvSpPr>
        <p:spPr>
          <a:xfrm>
            <a:off x="329184" y="3017273"/>
            <a:ext cx="8503920" cy="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 pitchFamily="34" charset="0"/>
              </a:rPr>
              <a:t>Aaron Huang</a:t>
            </a:r>
            <a:r>
              <a:rPr lang="en-US" sz="1800" b="1" i="0" dirty="0">
                <a:solidFill>
                  <a:srgbClr val="C9A227"/>
                </a:solidFill>
                <a:latin typeface="Calibri" pitchFamily="34" charset="0"/>
              </a:rPr>
              <a:t>  ·  </a:t>
            </a:r>
            <a:r>
              <a:rPr lang="en-US" sz="1800" b="1" i="0" dirty="0">
                <a:solidFill>
                  <a:srgbClr val="FFFFFF"/>
                </a:solidFill>
                <a:latin typeface="Calibri" pitchFamily="34" charset="0"/>
              </a:rPr>
              <a:t>Roshan Dileep</a:t>
            </a:r>
            <a:r>
              <a:rPr lang="en-US" sz="1800" b="1" i="0" dirty="0">
                <a:solidFill>
                  <a:srgbClr val="C9A227"/>
                </a:solidFill>
                <a:latin typeface="Calibri" pitchFamily="34" charset="0"/>
              </a:rPr>
              <a:t>  ·  </a:t>
            </a:r>
            <a:r>
              <a:rPr lang="en-US" sz="1800" b="1" i="0" dirty="0">
                <a:solidFill>
                  <a:srgbClr val="FFFFFF"/>
                </a:solidFill>
                <a:latin typeface="Calibri" pitchFamily="34" charset="0"/>
              </a:rPr>
              <a:t>Shourya Batra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EB54F82-B7D1-5E36-6789-53C2F4467DF6}"/>
              </a:ext>
            </a:extLst>
          </p:cNvPr>
          <p:cNvSpPr/>
          <p:nvPr/>
        </p:nvSpPr>
        <p:spPr>
          <a:xfrm>
            <a:off x="310896" y="3417273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Homestead High School, CA | 2025-26 | Chapter #8990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9184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Homestead FBLA  ·  Data Analysis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9184" y="640080"/>
            <a:ext cx="850392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Client &amp; Research Question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9184" y="2020000"/>
            <a:ext cx="8321040" cy="1100000"/>
          </a:xfrm>
          <a:prstGeom prst="rect">
            <a:avLst/>
          </a:prstGeom>
          <a:solidFill>
            <a:srgbClr val="152744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2137560"/>
            <a:ext cx="8001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can historical Olympic participation and performance data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 used to optimize planning decisions for the 2028 Olympics?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9184" y="3700000"/>
            <a:ext cx="8321040" cy="3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C8D6E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We focused on three key stakeholders:</a:t>
            </a:r>
          </a:p>
        </p:txBody>
      </p:sp>
      <p:sp>
        <p:nvSpPr>
          <p:cNvPr id="9" name="Shape 7"/>
          <p:cNvSpPr/>
          <p:nvPr/>
        </p:nvSpPr>
        <p:spPr>
          <a:xfrm>
            <a:off x="1825475" y="4155948"/>
            <a:ext cx="1828800" cy="3474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25475" y="41559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7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Athletes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37155" y="4155948"/>
            <a:ext cx="1828800" cy="3474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37155" y="41559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27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48835" y="4155948"/>
            <a:ext cx="1828800" cy="3474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48835" y="41559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27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NOCs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5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Methodology</a:t>
            </a:r>
            <a:endParaRPr lang="en-US" sz="25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D79D84-CBA5-AC52-AB5C-5D164CA2E21C}"/>
              </a:ext>
            </a:extLst>
          </p:cNvPr>
          <p:cNvGrpSpPr/>
          <p:nvPr/>
        </p:nvGrpSpPr>
        <p:grpSpPr>
          <a:xfrm>
            <a:off x="318374" y="1462347"/>
            <a:ext cx="1981204" cy="2649682"/>
            <a:chOff x="318374" y="960120"/>
            <a:chExt cx="1981204" cy="2644140"/>
          </a:xfrm>
        </p:grpSpPr>
        <p:sp>
          <p:nvSpPr>
            <p:cNvPr id="6" name="Shape 4"/>
            <p:cNvSpPr/>
            <p:nvPr/>
          </p:nvSpPr>
          <p:spPr>
            <a:xfrm>
              <a:off x="320040" y="960120"/>
              <a:ext cx="1979538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18374" y="960120"/>
              <a:ext cx="1976205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2004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3000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0472" y="1078992"/>
              <a:ext cx="420624" cy="420624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41148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Collection</a:t>
              </a:r>
              <a:endParaRPr lang="en-US" sz="1300"/>
            </a:p>
          </p:txBody>
        </p:sp>
        <p:sp>
          <p:nvSpPr>
            <p:cNvPr id="11" name="Text 8"/>
            <p:cNvSpPr/>
            <p:nvPr/>
          </p:nvSpPr>
          <p:spPr>
            <a:xfrm>
              <a:off x="411480" y="1958340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1896–2016 Athlete Event Data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NOC Regions + World Bank GDP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63C98DC-2161-41A9-CFF4-52D74A64B547}"/>
              </a:ext>
            </a:extLst>
          </p:cNvPr>
          <p:cNvGrpSpPr/>
          <p:nvPr/>
        </p:nvGrpSpPr>
        <p:grpSpPr>
          <a:xfrm>
            <a:off x="2461953" y="1462347"/>
            <a:ext cx="1993392" cy="2581793"/>
            <a:chOff x="2468880" y="960120"/>
            <a:chExt cx="1993392" cy="2578331"/>
          </a:xfrm>
        </p:grpSpPr>
        <p:sp>
          <p:nvSpPr>
            <p:cNvPr id="12" name="Shape 9"/>
            <p:cNvSpPr/>
            <p:nvPr/>
          </p:nvSpPr>
          <p:spPr>
            <a:xfrm>
              <a:off x="2468880" y="960120"/>
              <a:ext cx="1993392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2468880" y="960120"/>
              <a:ext cx="1993392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246888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3000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39312" y="1078992"/>
              <a:ext cx="420624" cy="420624"/>
            </a:xfrm>
            <a:prstGeom prst="rect">
              <a:avLst/>
            </a:prstGeom>
          </p:spPr>
        </p:pic>
        <p:sp>
          <p:nvSpPr>
            <p:cNvPr id="16" name="Text 12"/>
            <p:cNvSpPr/>
            <p:nvPr/>
          </p:nvSpPr>
          <p:spPr>
            <a:xfrm>
              <a:off x="256032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Processing</a:t>
              </a:r>
              <a:endParaRPr lang="en-US" sz="1300"/>
            </a:p>
          </p:txBody>
        </p:sp>
        <p:sp>
          <p:nvSpPr>
            <p:cNvPr id="17" name="Text 13"/>
            <p:cNvSpPr/>
            <p:nvPr/>
          </p:nvSpPr>
          <p:spPr>
            <a:xfrm>
              <a:off x="2560320" y="1892531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Merged &amp; Filtered Summer Games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Handled Missing Values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6E9E86-E8CD-E3ED-AADA-8119403FCFF3}"/>
              </a:ext>
            </a:extLst>
          </p:cNvPr>
          <p:cNvGrpSpPr/>
          <p:nvPr/>
        </p:nvGrpSpPr>
        <p:grpSpPr>
          <a:xfrm>
            <a:off x="4614259" y="1462347"/>
            <a:ext cx="2014173" cy="2578331"/>
            <a:chOff x="4596939" y="960120"/>
            <a:chExt cx="2014173" cy="2578331"/>
          </a:xfrm>
        </p:grpSpPr>
        <p:sp>
          <p:nvSpPr>
            <p:cNvPr id="18" name="Shape 14"/>
            <p:cNvSpPr/>
            <p:nvPr/>
          </p:nvSpPr>
          <p:spPr>
            <a:xfrm>
              <a:off x="4596939" y="960120"/>
              <a:ext cx="2014173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5"/>
            <p:cNvSpPr/>
            <p:nvPr/>
          </p:nvSpPr>
          <p:spPr>
            <a:xfrm>
              <a:off x="4607459" y="960120"/>
              <a:ext cx="1993392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6"/>
            <p:cNvSpPr/>
            <p:nvPr/>
          </p:nvSpPr>
          <p:spPr>
            <a:xfrm>
              <a:off x="461772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3000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8152" y="1078992"/>
              <a:ext cx="420624" cy="420624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470916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</a:t>
              </a:r>
              <a:endParaRPr lang="en-US" sz="1300"/>
            </a:p>
          </p:txBody>
        </p:sp>
        <p:sp>
          <p:nvSpPr>
            <p:cNvPr id="23" name="Text 18"/>
            <p:cNvSpPr/>
            <p:nvPr/>
          </p:nvSpPr>
          <p:spPr>
            <a:xfrm>
              <a:off x="4702233" y="1892531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Participation · Medals · Age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Clustering &amp; Regression</a:t>
              </a:r>
              <a:endParaRPr lang="en-US" sz="11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DCA57B4-F93B-4E9E-4FEE-03070E4FE96B}"/>
              </a:ext>
            </a:extLst>
          </p:cNvPr>
          <p:cNvGrpSpPr/>
          <p:nvPr/>
        </p:nvGrpSpPr>
        <p:grpSpPr>
          <a:xfrm>
            <a:off x="6780415" y="1462347"/>
            <a:ext cx="1993392" cy="2578331"/>
            <a:chOff x="6766560" y="960120"/>
            <a:chExt cx="1993392" cy="2578331"/>
          </a:xfrm>
        </p:grpSpPr>
        <p:sp>
          <p:nvSpPr>
            <p:cNvPr id="24" name="Shape 19"/>
            <p:cNvSpPr/>
            <p:nvPr/>
          </p:nvSpPr>
          <p:spPr>
            <a:xfrm>
              <a:off x="6766560" y="960120"/>
              <a:ext cx="1993392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0"/>
            <p:cNvSpPr/>
            <p:nvPr/>
          </p:nvSpPr>
          <p:spPr>
            <a:xfrm>
              <a:off x="6766560" y="960120"/>
              <a:ext cx="1993392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1"/>
            <p:cNvSpPr/>
            <p:nvPr/>
          </p:nvSpPr>
          <p:spPr>
            <a:xfrm>
              <a:off x="676656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3000"/>
            </a:p>
          </p:txBody>
        </p:sp>
        <p:pic>
          <p:nvPicPr>
            <p:cNvPr id="2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36992" y="1078992"/>
              <a:ext cx="420624" cy="420624"/>
            </a:xfrm>
            <a:prstGeom prst="rect">
              <a:avLst/>
            </a:prstGeom>
          </p:spPr>
        </p:pic>
        <p:sp>
          <p:nvSpPr>
            <p:cNvPr id="28" name="Text 22"/>
            <p:cNvSpPr/>
            <p:nvPr/>
          </p:nvSpPr>
          <p:spPr>
            <a:xfrm>
              <a:off x="685800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Reproducibility</a:t>
              </a:r>
              <a:endParaRPr lang="en-US" sz="1300"/>
            </a:p>
          </p:txBody>
        </p:sp>
        <p:sp>
          <p:nvSpPr>
            <p:cNvPr id="29" name="Text 23"/>
            <p:cNvSpPr/>
            <p:nvPr/>
          </p:nvSpPr>
          <p:spPr>
            <a:xfrm>
              <a:off x="6858000" y="1892531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GitHub · Python · Pandas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 · Jupyter</a:t>
              </a:r>
              <a:endParaRPr lang="en-US" sz="11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D0A8ADC-E096-779E-78BF-C2038CC80D98}"/>
              </a:ext>
            </a:extLst>
          </p:cNvPr>
          <p:cNvGrpSpPr/>
          <p:nvPr/>
        </p:nvGrpSpPr>
        <p:grpSpPr>
          <a:xfrm>
            <a:off x="320040" y="4613149"/>
            <a:ext cx="8503920" cy="302029"/>
            <a:chOff x="320040" y="4696276"/>
            <a:chExt cx="8503920" cy="302029"/>
          </a:xfrm>
        </p:grpSpPr>
        <p:sp>
          <p:nvSpPr>
            <p:cNvPr id="30" name="Shape 24"/>
            <p:cNvSpPr/>
            <p:nvPr/>
          </p:nvSpPr>
          <p:spPr>
            <a:xfrm>
              <a:off x="320040" y="4696276"/>
              <a:ext cx="8503920" cy="302029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4048" y="4736315"/>
              <a:ext cx="228600" cy="228600"/>
            </a:xfrm>
            <a:prstGeom prst="rect">
              <a:avLst/>
            </a:prstGeom>
          </p:spPr>
        </p:pic>
        <p:sp>
          <p:nvSpPr>
            <p:cNvPr id="32" name="Text 25"/>
            <p:cNvSpPr/>
            <p:nvPr/>
          </p:nvSpPr>
          <p:spPr>
            <a:xfrm>
              <a:off x="694944" y="4713593"/>
              <a:ext cx="7955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work in GitHub — fully auditable by SportsFanatics</a:t>
              </a:r>
              <a:endParaRPr lang="en-US" sz="1100"/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City: The Distributed-Venue Challenge</a:t>
            </a:r>
            <a:endParaRPr lang="en-US" sz="25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7B32F4-75C5-7C51-6BCE-5FC13A9A6B26}"/>
              </a:ext>
            </a:extLst>
          </p:cNvPr>
          <p:cNvGrpSpPr/>
          <p:nvPr/>
        </p:nvGrpSpPr>
        <p:grpSpPr>
          <a:xfrm>
            <a:off x="6720840" y="1005840"/>
            <a:ext cx="2194560" cy="1719072"/>
            <a:chOff x="6720840" y="1005840"/>
            <a:chExt cx="2194560" cy="1719072"/>
          </a:xfrm>
        </p:grpSpPr>
        <p:sp>
          <p:nvSpPr>
            <p:cNvPr id="7" name="Shape 4"/>
            <p:cNvSpPr/>
            <p:nvPr/>
          </p:nvSpPr>
          <p:spPr>
            <a:xfrm>
              <a:off x="6720840" y="1005840"/>
              <a:ext cx="2194560" cy="17190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/>
            <p:cNvSpPr/>
            <p:nvPr/>
          </p:nvSpPr>
          <p:spPr>
            <a:xfrm>
              <a:off x="6720840" y="1005840"/>
              <a:ext cx="2194560" cy="64008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9712" y="1207008"/>
              <a:ext cx="402336" cy="402336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7315200" y="1143000"/>
              <a:ext cx="1463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41%</a:t>
              </a:r>
              <a:endParaRPr lang="en-US" sz="3600"/>
            </a:p>
          </p:txBody>
        </p:sp>
        <p:sp>
          <p:nvSpPr>
            <p:cNvPr id="11" name="Text 7"/>
            <p:cNvSpPr/>
            <p:nvPr/>
          </p:nvSpPr>
          <p:spPr>
            <a:xfrm>
              <a:off x="6839712" y="173736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Downtown / Expo</a:t>
              </a:r>
              <a:endParaRPr lang="en-US" sz="1300"/>
            </a:p>
          </p:txBody>
        </p:sp>
        <p:sp>
          <p:nvSpPr>
            <p:cNvPr id="12" name="Text 8"/>
            <p:cNvSpPr/>
            <p:nvPr/>
          </p:nvSpPr>
          <p:spPr>
            <a:xfrm>
              <a:off x="6839712" y="2029968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0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Largest single-zone load</a:t>
              </a:r>
              <a:endParaRPr lang="en-US" sz="10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9E8CA63-7709-3BBE-74C6-76950CDE4CA9}"/>
              </a:ext>
            </a:extLst>
          </p:cNvPr>
          <p:cNvGrpSpPr/>
          <p:nvPr/>
        </p:nvGrpSpPr>
        <p:grpSpPr>
          <a:xfrm>
            <a:off x="6720840" y="2926080"/>
            <a:ext cx="2194560" cy="1719072"/>
            <a:chOff x="6720840" y="2926080"/>
            <a:chExt cx="2194560" cy="1719072"/>
          </a:xfrm>
        </p:grpSpPr>
        <p:sp>
          <p:nvSpPr>
            <p:cNvPr id="13" name="Shape 9"/>
            <p:cNvSpPr/>
            <p:nvPr/>
          </p:nvSpPr>
          <p:spPr>
            <a:xfrm>
              <a:off x="6720840" y="2926080"/>
              <a:ext cx="2194560" cy="17190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0"/>
            <p:cNvSpPr/>
            <p:nvPr/>
          </p:nvSpPr>
          <p:spPr>
            <a:xfrm>
              <a:off x="6720840" y="2926080"/>
              <a:ext cx="2194560" cy="64008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712" y="3127248"/>
              <a:ext cx="402336" cy="402336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7315200" y="3063240"/>
              <a:ext cx="1463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77%</a:t>
              </a:r>
              <a:endParaRPr lang="en-US" sz="3600"/>
            </a:p>
          </p:txBody>
        </p:sp>
        <p:sp>
          <p:nvSpPr>
            <p:cNvPr id="17" name="Text 12"/>
            <p:cNvSpPr/>
            <p:nvPr/>
          </p:nvSpPr>
          <p:spPr>
            <a:xfrm>
              <a:off x="6839712" y="365760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3 Zones</a:t>
              </a:r>
              <a:endParaRPr lang="en-US" sz="1300"/>
            </a:p>
          </p:txBody>
        </p:sp>
        <p:sp>
          <p:nvSpPr>
            <p:cNvPr id="18" name="Text 13"/>
            <p:cNvSpPr/>
            <p:nvPr/>
          </p:nvSpPr>
          <p:spPr>
            <a:xfrm>
              <a:off x="6839712" y="3950208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0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of all 11,179 athletes</a:t>
              </a:r>
              <a:endParaRPr lang="en-US" sz="10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3AE057-D0A5-BF32-B0D0-AEE7A12F6D6C}"/>
              </a:ext>
            </a:extLst>
          </p:cNvPr>
          <p:cNvGrpSpPr/>
          <p:nvPr/>
        </p:nvGrpSpPr>
        <p:grpSpPr>
          <a:xfrm>
            <a:off x="-3113704" y="-3325528"/>
            <a:ext cx="2652654" cy="3231441"/>
            <a:chOff x="384048" y="1005840"/>
            <a:chExt cx="2652654" cy="3231441"/>
          </a:xfrm>
        </p:grpSpPr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EA5640D0-6285-E05E-99BD-82575C003464}"/>
                </a:ext>
              </a:extLst>
            </p:cNvPr>
            <p:cNvSpPr/>
            <p:nvPr/>
          </p:nvSpPr>
          <p:spPr>
            <a:xfrm>
              <a:off x="38404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5">
              <a:extLst>
                <a:ext uri="{FF2B5EF4-FFF2-40B4-BE49-F238E27FC236}">
                  <a16:creationId xmlns:a16="http://schemas.microsoft.com/office/drawing/2014/main" id="{B27F6D30-49BB-63F3-1C0A-C08A59586277}"/>
                </a:ext>
              </a:extLst>
            </p:cNvPr>
            <p:cNvSpPr/>
            <p:nvPr/>
          </p:nvSpPr>
          <p:spPr>
            <a:xfrm>
              <a:off x="38404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6">
              <a:extLst>
                <a:ext uri="{FF2B5EF4-FFF2-40B4-BE49-F238E27FC236}">
                  <a16:creationId xmlns:a16="http://schemas.microsoft.com/office/drawing/2014/main" id="{CD465D73-BF29-2610-8299-64E3C9059564}"/>
                </a:ext>
              </a:extLst>
            </p:cNvPr>
            <p:cNvSpPr/>
            <p:nvPr/>
          </p:nvSpPr>
          <p:spPr>
            <a:xfrm>
              <a:off x="111646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Transit &amp; Lanes</a:t>
              </a:r>
              <a:endParaRPr lang="en-US" sz="1300"/>
            </a:p>
          </p:txBody>
        </p:sp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78B453A1-B082-CB6C-0FA3-3D4DB9BD291A}"/>
                </a:ext>
              </a:extLst>
            </p:cNvPr>
            <p:cNvSpPr/>
            <p:nvPr/>
          </p:nvSpPr>
          <p:spPr>
            <a:xfrm>
              <a:off x="552937" y="2591361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Pre-position shuttles &amp; lanes by zone load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6" name="Graphic 25" descr="Home outline">
              <a:extLst>
                <a:ext uri="{FF2B5EF4-FFF2-40B4-BE49-F238E27FC236}">
                  <a16:creationId xmlns:a16="http://schemas.microsoft.com/office/drawing/2014/main" id="{59AB4E6F-0EFC-E017-BC44-45613D1D4E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6511" y="1659071"/>
              <a:ext cx="1468712" cy="1507383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805A95-F383-A308-A5D9-0B72798EDB73}"/>
              </a:ext>
            </a:extLst>
          </p:cNvPr>
          <p:cNvGrpSpPr/>
          <p:nvPr/>
        </p:nvGrpSpPr>
        <p:grpSpPr>
          <a:xfrm>
            <a:off x="9551080" y="-3282558"/>
            <a:ext cx="2651760" cy="3149799"/>
            <a:chOff x="6053328" y="1005840"/>
            <a:chExt cx="2651760" cy="3149799"/>
          </a:xfrm>
        </p:grpSpPr>
        <p:sp>
          <p:nvSpPr>
            <p:cNvPr id="29" name="Shape 12">
              <a:extLst>
                <a:ext uri="{FF2B5EF4-FFF2-40B4-BE49-F238E27FC236}">
                  <a16:creationId xmlns:a16="http://schemas.microsoft.com/office/drawing/2014/main" id="{6DF79DD3-FD2A-BB08-4555-7DF3EA38FDF5}"/>
                </a:ext>
              </a:extLst>
            </p:cNvPr>
            <p:cNvSpPr/>
            <p:nvPr/>
          </p:nvSpPr>
          <p:spPr>
            <a:xfrm>
              <a:off x="605332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3">
              <a:extLst>
                <a:ext uri="{FF2B5EF4-FFF2-40B4-BE49-F238E27FC236}">
                  <a16:creationId xmlns:a16="http://schemas.microsoft.com/office/drawing/2014/main" id="{41478E8A-8490-84B6-1804-3AE673D06549}"/>
                </a:ext>
              </a:extLst>
            </p:cNvPr>
            <p:cNvSpPr/>
            <p:nvPr/>
          </p:nvSpPr>
          <p:spPr>
            <a:xfrm>
              <a:off x="605332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1C917D44-5C12-4552-8B14-4003152CC094}"/>
                </a:ext>
              </a:extLst>
            </p:cNvPr>
            <p:cNvSpPr/>
            <p:nvPr/>
          </p:nvSpPr>
          <p:spPr>
            <a:xfrm>
              <a:off x="665683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&amp; Staffing</a:t>
              </a:r>
              <a:endParaRPr lang="en-US" sz="1300"/>
            </a:p>
          </p:txBody>
        </p:sp>
        <p:sp>
          <p:nvSpPr>
            <p:cNvPr id="32" name="Text 15">
              <a:extLst>
                <a:ext uri="{FF2B5EF4-FFF2-40B4-BE49-F238E27FC236}">
                  <a16:creationId xmlns:a16="http://schemas.microsoft.com/office/drawing/2014/main" id="{8440C122-0058-4FE5-0094-4FE2A029A558}"/>
                </a:ext>
              </a:extLst>
            </p:cNvPr>
            <p:cNvSpPr/>
            <p:nvPr/>
          </p:nvSpPr>
          <p:spPr>
            <a:xfrm>
              <a:off x="6209326" y="2509719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Weight staffing to the three high-load zones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33" name="Graphic 32" descr="Bus outline">
              <a:extLst>
                <a:ext uri="{FF2B5EF4-FFF2-40B4-BE49-F238E27FC236}">
                  <a16:creationId xmlns:a16="http://schemas.microsoft.com/office/drawing/2014/main" id="{4ABBA9A7-9762-79F4-8359-6017D137C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72681" y="1714931"/>
              <a:ext cx="1614808" cy="1571839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9CD4748-AD34-DC27-EE6F-4E48936264E5}"/>
              </a:ext>
            </a:extLst>
          </p:cNvPr>
          <p:cNvGrpSpPr/>
          <p:nvPr/>
        </p:nvGrpSpPr>
        <p:grpSpPr>
          <a:xfrm>
            <a:off x="3248767" y="-3282558"/>
            <a:ext cx="2651760" cy="3141205"/>
            <a:chOff x="3218688" y="1005840"/>
            <a:chExt cx="2651760" cy="3141205"/>
          </a:xfrm>
        </p:grpSpPr>
        <p:sp>
          <p:nvSpPr>
            <p:cNvPr id="36" name="Shape 8">
              <a:extLst>
                <a:ext uri="{FF2B5EF4-FFF2-40B4-BE49-F238E27FC236}">
                  <a16:creationId xmlns:a16="http://schemas.microsoft.com/office/drawing/2014/main" id="{571DE775-5C1B-7B6D-8E97-B65F625EA245}"/>
                </a:ext>
              </a:extLst>
            </p:cNvPr>
            <p:cNvSpPr/>
            <p:nvPr/>
          </p:nvSpPr>
          <p:spPr>
            <a:xfrm>
              <a:off x="321868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9">
              <a:extLst>
                <a:ext uri="{FF2B5EF4-FFF2-40B4-BE49-F238E27FC236}">
                  <a16:creationId xmlns:a16="http://schemas.microsoft.com/office/drawing/2014/main" id="{3277A7CB-D54B-BA8D-12CA-B13C7271610F}"/>
                </a:ext>
              </a:extLst>
            </p:cNvPr>
            <p:cNvSpPr/>
            <p:nvPr/>
          </p:nvSpPr>
          <p:spPr>
            <a:xfrm>
              <a:off x="321868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10">
              <a:extLst>
                <a:ext uri="{FF2B5EF4-FFF2-40B4-BE49-F238E27FC236}">
                  <a16:creationId xmlns:a16="http://schemas.microsoft.com/office/drawing/2014/main" id="{AA236710-5A60-804C-9E44-040F816F1A94}"/>
                </a:ext>
              </a:extLst>
            </p:cNvPr>
            <p:cNvSpPr/>
            <p:nvPr/>
          </p:nvSpPr>
          <p:spPr>
            <a:xfrm>
              <a:off x="382219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Medical &amp; Recovery</a:t>
              </a:r>
              <a:endParaRPr lang="en-US" sz="1300"/>
            </a:p>
          </p:txBody>
        </p:sp>
        <p:sp>
          <p:nvSpPr>
            <p:cNvPr id="39" name="Text 11">
              <a:extLst>
                <a:ext uri="{FF2B5EF4-FFF2-40B4-BE49-F238E27FC236}">
                  <a16:creationId xmlns:a16="http://schemas.microsoft.com/office/drawing/2014/main" id="{CFF58A45-6A3A-287B-22A7-AB4E45E13BF8}"/>
                </a:ext>
              </a:extLst>
            </p:cNvPr>
            <p:cNvSpPr/>
            <p:nvPr/>
          </p:nvSpPr>
          <p:spPr>
            <a:xfrm>
              <a:off x="3391874" y="2501125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Scale capacity to load, not stadium seating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40" name="Graphic 39" descr="Sport balls outline">
              <a:extLst>
                <a:ext uri="{FF2B5EF4-FFF2-40B4-BE49-F238E27FC236}">
                  <a16:creationId xmlns:a16="http://schemas.microsoft.com/office/drawing/2014/main" id="{4569CC19-EC81-D4DC-3484-0B1705E6E3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78466" y="1779385"/>
              <a:ext cx="1331207" cy="136988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CF7B347-B44D-5C8E-1CBE-755C0BC988BE}"/>
              </a:ext>
            </a:extLst>
          </p:cNvPr>
          <p:cNvGrpSpPr/>
          <p:nvPr/>
        </p:nvGrpSpPr>
        <p:grpSpPr>
          <a:xfrm>
            <a:off x="384048" y="5487319"/>
            <a:ext cx="8375904" cy="475488"/>
            <a:chOff x="384048" y="4059936"/>
            <a:chExt cx="8375904" cy="475488"/>
          </a:xfrm>
        </p:grpSpPr>
        <p:sp>
          <p:nvSpPr>
            <p:cNvPr id="28" name="Shape 16">
              <a:extLst>
                <a:ext uri="{FF2B5EF4-FFF2-40B4-BE49-F238E27FC236}">
                  <a16:creationId xmlns:a16="http://schemas.microsoft.com/office/drawing/2014/main" id="{46897B39-A1B6-4DA3-8801-5DA513A8F2BE}"/>
                </a:ext>
              </a:extLst>
            </p:cNvPr>
            <p:cNvSpPr/>
            <p:nvPr/>
          </p:nvSpPr>
          <p:spPr>
            <a:xfrm>
              <a:off x="384048" y="4059936"/>
              <a:ext cx="8375904" cy="475488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5" name="Image 3" descr="preencoded.png">
              <a:extLst>
                <a:ext uri="{FF2B5EF4-FFF2-40B4-BE49-F238E27FC236}">
                  <a16:creationId xmlns:a16="http://schemas.microsoft.com/office/drawing/2014/main" id="{746B05AF-D5F6-FE30-D2F0-B9CEFDFF6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0352" y="4150276"/>
              <a:ext cx="274320" cy="274320"/>
            </a:xfrm>
            <a:prstGeom prst="rect">
              <a:avLst/>
            </a:prstGeom>
          </p:spPr>
        </p:pic>
        <p:sp>
          <p:nvSpPr>
            <p:cNvPr id="42" name="Text 17">
              <a:extLst>
                <a:ext uri="{FF2B5EF4-FFF2-40B4-BE49-F238E27FC236}">
                  <a16:creationId xmlns:a16="http://schemas.microsoft.com/office/drawing/2014/main" id="{1B8077F0-4D1C-504F-97FB-4159151470E6}"/>
                </a:ext>
              </a:extLst>
            </p:cNvPr>
            <p:cNvSpPr/>
            <p:nvPr/>
          </p:nvSpPr>
          <p:spPr>
            <a:xfrm>
              <a:off x="914400" y="4061036"/>
              <a:ext cx="7717536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Feasible: reallocates existing budget, traced to LA28's plan — replicable by any host</a:t>
              </a:r>
              <a:endParaRPr lang="en-US" sz="1300"/>
            </a:p>
          </p:txBody>
        </p:sp>
      </p:grpSp>
      <p:graphicFrame>
        <p:nvGraphicFramePr>
          <p:cNvPr id="44" name="Chart 0">
            <a:extLst>
              <a:ext uri="{FF2B5EF4-FFF2-40B4-BE49-F238E27FC236}">
                <a16:creationId xmlns:a16="http://schemas.microsoft.com/office/drawing/2014/main" id="{445C526A-2E35-C9CF-07E9-C4AF234BDC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7534059"/>
              </p:ext>
            </p:extLst>
          </p:nvPr>
        </p:nvGraphicFramePr>
        <p:xfrm>
          <a:off x="320040" y="921327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Los Angeles</a:t>
            </a:r>
            <a:endParaRPr lang="en-US" sz="25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C2628C-690E-7800-6028-40F850130711}"/>
              </a:ext>
            </a:extLst>
          </p:cNvPr>
          <p:cNvGrpSpPr/>
          <p:nvPr/>
        </p:nvGrpSpPr>
        <p:grpSpPr>
          <a:xfrm>
            <a:off x="384048" y="4240410"/>
            <a:ext cx="8375904" cy="475488"/>
            <a:chOff x="384048" y="4059936"/>
            <a:chExt cx="8375904" cy="475488"/>
          </a:xfrm>
        </p:grpSpPr>
        <p:sp>
          <p:nvSpPr>
            <p:cNvPr id="21" name="Shape 16"/>
            <p:cNvSpPr/>
            <p:nvPr/>
          </p:nvSpPr>
          <p:spPr>
            <a:xfrm>
              <a:off x="384048" y="4059936"/>
              <a:ext cx="8375904" cy="475488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352" y="4150276"/>
              <a:ext cx="274320" cy="274320"/>
            </a:xfrm>
            <a:prstGeom prst="rect">
              <a:avLst/>
            </a:prstGeom>
          </p:spPr>
        </p:pic>
        <p:sp>
          <p:nvSpPr>
            <p:cNvPr id="23" name="Text 17"/>
            <p:cNvSpPr/>
            <p:nvPr/>
          </p:nvSpPr>
          <p:spPr>
            <a:xfrm>
              <a:off x="914400" y="4061036"/>
              <a:ext cx="7717536" cy="4572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Feasible: reallocates existing budget, traced to LA28's plan — replicable by any host</a:t>
              </a:r>
              <a:endParaRPr lang="en-US" sz="13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32672DB-B3EA-D696-8FD4-21C1E67C5718}"/>
              </a:ext>
            </a:extLst>
          </p:cNvPr>
          <p:cNvGrpSpPr/>
          <p:nvPr/>
        </p:nvGrpSpPr>
        <p:grpSpPr>
          <a:xfrm>
            <a:off x="384048" y="1005840"/>
            <a:ext cx="2652654" cy="3231441"/>
            <a:chOff x="384048" y="1005840"/>
            <a:chExt cx="2652654" cy="3231441"/>
          </a:xfrm>
        </p:grpSpPr>
        <p:sp>
          <p:nvSpPr>
            <p:cNvPr id="6" name="Shape 4"/>
            <p:cNvSpPr/>
            <p:nvPr/>
          </p:nvSpPr>
          <p:spPr>
            <a:xfrm>
              <a:off x="38404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111646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Transit &amp; Lanes</a:t>
              </a:r>
              <a:endParaRPr lang="en-US" sz="1300"/>
            </a:p>
          </p:txBody>
        </p:sp>
        <p:sp>
          <p:nvSpPr>
            <p:cNvPr id="10" name="Text 7"/>
            <p:cNvSpPr/>
            <p:nvPr/>
          </p:nvSpPr>
          <p:spPr>
            <a:xfrm>
              <a:off x="552937" y="2591361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Pre-position shuttles &amp; lanes by zone load</a:t>
              </a:r>
              <a:endParaRPr lang="en-US" sz="1200" b="1" dirty="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6" name="Graphic 25" descr="Home outline">
              <a:extLst>
                <a:ext uri="{FF2B5EF4-FFF2-40B4-BE49-F238E27FC236}">
                  <a16:creationId xmlns:a16="http://schemas.microsoft.com/office/drawing/2014/main" id="{926D1F4E-BFB1-5F6D-0B3A-7723A8CE2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6511" y="1659071"/>
              <a:ext cx="1468712" cy="1507383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D2C0DCC-8FC5-E35E-A60F-9B1FAF83F67C}"/>
              </a:ext>
            </a:extLst>
          </p:cNvPr>
          <p:cNvGrpSpPr/>
          <p:nvPr/>
        </p:nvGrpSpPr>
        <p:grpSpPr>
          <a:xfrm>
            <a:off x="3218688" y="1005840"/>
            <a:ext cx="2651760" cy="3141205"/>
            <a:chOff x="3218688" y="1005840"/>
            <a:chExt cx="2651760" cy="3141205"/>
          </a:xfrm>
        </p:grpSpPr>
        <p:sp>
          <p:nvSpPr>
            <p:cNvPr id="11" name="Shape 8"/>
            <p:cNvSpPr/>
            <p:nvPr/>
          </p:nvSpPr>
          <p:spPr>
            <a:xfrm>
              <a:off x="321868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321868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0"/>
            <p:cNvSpPr/>
            <p:nvPr/>
          </p:nvSpPr>
          <p:spPr>
            <a:xfrm>
              <a:off x="382219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Medical &amp; Recovery</a:t>
              </a:r>
              <a:endParaRPr lang="en-US" sz="1300"/>
            </a:p>
          </p:txBody>
        </p:sp>
        <p:sp>
          <p:nvSpPr>
            <p:cNvPr id="15" name="Text 11"/>
            <p:cNvSpPr/>
            <p:nvPr/>
          </p:nvSpPr>
          <p:spPr>
            <a:xfrm>
              <a:off x="3391874" y="2501125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Scale capacity to load, not stadium seating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7" name="Graphic 26" descr="Sport balls outline">
              <a:extLst>
                <a:ext uri="{FF2B5EF4-FFF2-40B4-BE49-F238E27FC236}">
                  <a16:creationId xmlns:a16="http://schemas.microsoft.com/office/drawing/2014/main" id="{7E3905A1-DD96-C23D-4A44-55443BBB6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78466" y="1779385"/>
              <a:ext cx="1331207" cy="136988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78DDD83-6333-4620-E898-998698366F4D}"/>
              </a:ext>
            </a:extLst>
          </p:cNvPr>
          <p:cNvGrpSpPr/>
          <p:nvPr/>
        </p:nvGrpSpPr>
        <p:grpSpPr>
          <a:xfrm>
            <a:off x="6053328" y="1005840"/>
            <a:ext cx="2651760" cy="3149799"/>
            <a:chOff x="6053328" y="1005840"/>
            <a:chExt cx="2651760" cy="3149799"/>
          </a:xfrm>
        </p:grpSpPr>
        <p:sp>
          <p:nvSpPr>
            <p:cNvPr id="16" name="Shape 12"/>
            <p:cNvSpPr/>
            <p:nvPr/>
          </p:nvSpPr>
          <p:spPr>
            <a:xfrm>
              <a:off x="605332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3"/>
            <p:cNvSpPr/>
            <p:nvPr/>
          </p:nvSpPr>
          <p:spPr>
            <a:xfrm>
              <a:off x="605332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4"/>
            <p:cNvSpPr/>
            <p:nvPr/>
          </p:nvSpPr>
          <p:spPr>
            <a:xfrm>
              <a:off x="665683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&amp; Staffing</a:t>
              </a:r>
              <a:endParaRPr lang="en-US" sz="1300"/>
            </a:p>
          </p:txBody>
        </p:sp>
        <p:sp>
          <p:nvSpPr>
            <p:cNvPr id="20" name="Text 15"/>
            <p:cNvSpPr/>
            <p:nvPr/>
          </p:nvSpPr>
          <p:spPr>
            <a:xfrm>
              <a:off x="6209326" y="2509719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Weight staffing to the three high-load zones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8" name="Graphic 27" descr="Bus outline">
              <a:extLst>
                <a:ext uri="{FF2B5EF4-FFF2-40B4-BE49-F238E27FC236}">
                  <a16:creationId xmlns:a16="http://schemas.microsoft.com/office/drawing/2014/main" id="{D5FAE74E-5B85-7C7E-76DB-AA70C38FF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72681" y="1714931"/>
              <a:ext cx="1614808" cy="157183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C7504A1F-933C-1DF7-8D5F-26DFFC0CDDBD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6589401E-EB76-C753-160B-42EF2FF8323D}"/>
              </a:ext>
            </a:extLst>
          </p:cNvPr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B220905E-83F8-D656-E48B-E653C2CBAAF8}"/>
              </a:ext>
            </a:extLst>
          </p:cNvPr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Resource-Adjusted Medal Performance</a:t>
            </a:r>
            <a:endParaRPr lang="en-US" sz="2500"/>
          </a:p>
        </p:txBody>
      </p:sp>
      <p:pic>
        <p:nvPicPr>
          <p:cNvPr id="18" name="ScatterPlot">
            <a:extLst>
              <a:ext uri="{FF2B5EF4-FFF2-40B4-BE49-F238E27FC236}">
                <a16:creationId xmlns:a16="http://schemas.microsoft.com/office/drawing/2014/main" id="{F85B1532-5A85-0222-5066-19C06AF22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55" y="845524"/>
            <a:ext cx="6308304" cy="4297320"/>
          </a:xfrm>
          <a:prstGeom prst="rect">
            <a:avLst/>
          </a:prstGeom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7089205-770A-D6ED-0738-4C68C0DE969B}"/>
              </a:ext>
            </a:extLst>
          </p:cNvPr>
          <p:cNvGrpSpPr/>
          <p:nvPr/>
        </p:nvGrpSpPr>
        <p:grpSpPr>
          <a:xfrm>
            <a:off x="6720840" y="1300808"/>
            <a:ext cx="2194560" cy="1361276"/>
            <a:chOff x="6720840" y="1005840"/>
            <a:chExt cx="2194560" cy="1361276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99DA3B0B-F4DD-CFC3-F19B-799543F05D60}"/>
                </a:ext>
              </a:extLst>
            </p:cNvPr>
            <p:cNvSpPr/>
            <p:nvPr/>
          </p:nvSpPr>
          <p:spPr>
            <a:xfrm>
              <a:off x="6720840" y="1005840"/>
              <a:ext cx="2194560" cy="135036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Image 0" descr="preencoded.png">
              <a:extLst>
                <a:ext uri="{FF2B5EF4-FFF2-40B4-BE49-F238E27FC236}">
                  <a16:creationId xmlns:a16="http://schemas.microsoft.com/office/drawing/2014/main" id="{F0A7C7A6-1409-5580-AA72-45C0F8160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712" y="1188720"/>
              <a:ext cx="347472" cy="347472"/>
            </a:xfrm>
            <a:prstGeom prst="rect">
              <a:avLst/>
            </a:prstGeom>
          </p:spPr>
        </p:pic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0DB8BE1E-B7AC-78E2-51B7-2CC33E3F008E}"/>
                </a:ext>
              </a:extLst>
            </p:cNvPr>
            <p:cNvSpPr/>
            <p:nvPr/>
          </p:nvSpPr>
          <p:spPr>
            <a:xfrm>
              <a:off x="7260336" y="117043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Overperformers</a:t>
              </a:r>
              <a:endParaRPr lang="en-US" sz="1300"/>
            </a:p>
          </p:txBody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019D61D0-0A45-BF54-1285-64B70000DC27}"/>
                </a:ext>
              </a:extLst>
            </p:cNvPr>
            <p:cNvSpPr/>
            <p:nvPr/>
          </p:nvSpPr>
          <p:spPr>
            <a:xfrm>
              <a:off x="6839712" y="1452716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Zealand · France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Russia · UK</a:t>
              </a:r>
              <a:endParaRPr lang="en-US" sz="110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527F54B-25C6-A16D-92EC-268596223F8B}"/>
              </a:ext>
            </a:extLst>
          </p:cNvPr>
          <p:cNvGrpSpPr/>
          <p:nvPr/>
        </p:nvGrpSpPr>
        <p:grpSpPr>
          <a:xfrm>
            <a:off x="6720840" y="2843120"/>
            <a:ext cx="2194560" cy="1379712"/>
            <a:chOff x="6720840" y="2944515"/>
            <a:chExt cx="2194560" cy="1379712"/>
          </a:xfrm>
        </p:grpSpPr>
        <p:sp>
          <p:nvSpPr>
            <p:cNvPr id="23" name="Shape 7">
              <a:extLst>
                <a:ext uri="{FF2B5EF4-FFF2-40B4-BE49-F238E27FC236}">
                  <a16:creationId xmlns:a16="http://schemas.microsoft.com/office/drawing/2014/main" id="{EAC29BCA-E22C-B9DD-6539-111BE8A50355}"/>
                </a:ext>
              </a:extLst>
            </p:cNvPr>
            <p:cNvSpPr/>
            <p:nvPr/>
          </p:nvSpPr>
          <p:spPr>
            <a:xfrm>
              <a:off x="6720840" y="2944515"/>
              <a:ext cx="2194560" cy="135036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91C1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1" descr="preencoded.png">
              <a:extLst>
                <a:ext uri="{FF2B5EF4-FFF2-40B4-BE49-F238E27FC236}">
                  <a16:creationId xmlns:a16="http://schemas.microsoft.com/office/drawing/2014/main" id="{30AF5D82-14F9-0FC4-1D09-2428D4783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9712" y="3108960"/>
              <a:ext cx="347472" cy="347472"/>
            </a:xfrm>
            <a:prstGeom prst="rect">
              <a:avLst/>
            </a:prstGeom>
          </p:spPr>
        </p:pic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48AFC621-9FCC-411A-8599-F8C31D23E2C6}"/>
                </a:ext>
              </a:extLst>
            </p:cNvPr>
            <p:cNvSpPr/>
            <p:nvPr/>
          </p:nvSpPr>
          <p:spPr>
            <a:xfrm>
              <a:off x="7260336" y="309067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Underperformers</a:t>
              </a:r>
              <a:endParaRPr lang="en-US" sz="1300"/>
            </a:p>
          </p:txBody>
        </p:sp>
        <p:sp>
          <p:nvSpPr>
            <p:cNvPr id="26" name="Text 9">
              <a:extLst>
                <a:ext uri="{FF2B5EF4-FFF2-40B4-BE49-F238E27FC236}">
                  <a16:creationId xmlns:a16="http://schemas.microsoft.com/office/drawing/2014/main" id="{01084A8E-D877-7EFA-C829-7AF69B72357C}"/>
                </a:ext>
              </a:extLst>
            </p:cNvPr>
            <p:cNvSpPr/>
            <p:nvPr/>
          </p:nvSpPr>
          <p:spPr>
            <a:xfrm>
              <a:off x="6839712" y="3409827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Japan · Indonesia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 · Mexico</a:t>
              </a:r>
              <a:endParaRPr lang="en-US" sz="1100"/>
            </a:p>
          </p:txBody>
        </p:sp>
      </p:grpSp>
      <p:sp>
        <p:nvSpPr>
          <p:cNvPr id="27" name="Text 10">
            <a:extLst>
              <a:ext uri="{FF2B5EF4-FFF2-40B4-BE49-F238E27FC236}">
                <a16:creationId xmlns:a16="http://schemas.microsoft.com/office/drawing/2014/main" id="{E5F894F7-AA07-C467-4FD9-69D410216989}"/>
              </a:ext>
            </a:extLst>
          </p:cNvPr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/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NOCs Worldwide</a:t>
            </a:r>
            <a:endParaRPr lang="en-US" sz="25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AEA3085-1F99-5C5C-AF73-FA92C0262FCD}"/>
              </a:ext>
            </a:extLst>
          </p:cNvPr>
          <p:cNvGrpSpPr/>
          <p:nvPr/>
        </p:nvGrpSpPr>
        <p:grpSpPr>
          <a:xfrm>
            <a:off x="384048" y="1005840"/>
            <a:ext cx="8375904" cy="749808"/>
            <a:chOff x="384048" y="1005840"/>
            <a:chExt cx="8375904" cy="749808"/>
          </a:xfrm>
        </p:grpSpPr>
        <p:sp>
          <p:nvSpPr>
            <p:cNvPr id="6" name="Shape 4"/>
            <p:cNvSpPr/>
            <p:nvPr/>
          </p:nvSpPr>
          <p:spPr>
            <a:xfrm>
              <a:off x="384048" y="1005840"/>
              <a:ext cx="8375904" cy="749808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352" y="1139150"/>
              <a:ext cx="438912" cy="438912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078992" y="1024128"/>
              <a:ext cx="7552944" cy="7132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Benchmark against peers with similar GDP — replicate what outperformers do</a:t>
              </a:r>
              <a:endParaRPr lang="en-US" sz="1500"/>
            </a:p>
          </p:txBody>
        </p:sp>
      </p:grpSp>
      <p:sp>
        <p:nvSpPr>
          <p:cNvPr id="14" name="Text 10"/>
          <p:cNvSpPr/>
          <p:nvPr/>
        </p:nvSpPr>
        <p:spPr>
          <a:xfrm>
            <a:off x="4251960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C9A227"/>
                </a:solidFill>
              </a:rPr>
              <a:t>→</a:t>
            </a:r>
            <a:endParaRPr lang="en-US" sz="2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A2BC4C-D9EE-461B-4D78-78A42213286E}"/>
              </a:ext>
            </a:extLst>
          </p:cNvPr>
          <p:cNvGrpSpPr/>
          <p:nvPr/>
        </p:nvGrpSpPr>
        <p:grpSpPr>
          <a:xfrm>
            <a:off x="384048" y="4572000"/>
            <a:ext cx="8375904" cy="384048"/>
            <a:chOff x="384048" y="4572000"/>
            <a:chExt cx="8375904" cy="384048"/>
          </a:xfrm>
        </p:grpSpPr>
        <p:sp>
          <p:nvSpPr>
            <p:cNvPr id="20" name="Shape 15"/>
            <p:cNvSpPr/>
            <p:nvPr/>
          </p:nvSpPr>
          <p:spPr>
            <a:xfrm>
              <a:off x="384048" y="4572000"/>
              <a:ext cx="8375904" cy="384048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6"/>
            <p:cNvSpPr/>
            <p:nvPr/>
          </p:nvSpPr>
          <p:spPr>
            <a:xfrm>
              <a:off x="523958" y="4572000"/>
              <a:ext cx="8101584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Feasible — reallocate existing resources strategically, not just increase spending</a:t>
              </a:r>
              <a:endParaRPr lang="en-US" sz="12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699973-1BF6-7E4D-551C-5E4CCF846E58}"/>
              </a:ext>
            </a:extLst>
          </p:cNvPr>
          <p:cNvGrpSpPr/>
          <p:nvPr/>
        </p:nvGrpSpPr>
        <p:grpSpPr>
          <a:xfrm>
            <a:off x="4919472" y="1956816"/>
            <a:ext cx="3840480" cy="2634847"/>
            <a:chOff x="4919472" y="1956816"/>
            <a:chExt cx="3840480" cy="2634847"/>
          </a:xfrm>
        </p:grpSpPr>
        <p:sp>
          <p:nvSpPr>
            <p:cNvPr id="15" name="Shape 11"/>
            <p:cNvSpPr/>
            <p:nvPr/>
          </p:nvSpPr>
          <p:spPr>
            <a:xfrm>
              <a:off x="4919472" y="1956816"/>
              <a:ext cx="3840480" cy="2423160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2"/>
            <p:cNvSpPr/>
            <p:nvPr/>
          </p:nvSpPr>
          <p:spPr>
            <a:xfrm>
              <a:off x="4919472" y="1956816"/>
              <a:ext cx="3840480" cy="5029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3"/>
            <p:cNvSpPr/>
            <p:nvPr/>
          </p:nvSpPr>
          <p:spPr>
            <a:xfrm>
              <a:off x="5239271" y="1966510"/>
              <a:ext cx="3200400" cy="48463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Azerbaijan — Above Baseline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9" name="Text 14"/>
            <p:cNvSpPr/>
            <p:nvPr/>
          </p:nvSpPr>
          <p:spPr>
            <a:xfrm>
              <a:off x="5074370" y="3128623"/>
              <a:ext cx="3529584" cy="1463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Concentrated coaching investment</a:t>
              </a:r>
              <a:endParaRPr lang="en-US" sz="1200" b="1">
                <a:latin typeface="Calibri"/>
                <a:ea typeface="Calibri"/>
                <a:cs typeface="Calibri"/>
              </a:endParaRPr>
            </a:p>
            <a:p>
              <a:pPr algn="ctr"/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Targeted medal-producing sports</a:t>
              </a:r>
              <a:endParaRPr lang="en-US" sz="1200" b="1">
                <a:latin typeface="Calibri"/>
                <a:ea typeface="Calibri"/>
                <a:cs typeface="Calibri"/>
              </a:endParaRPr>
            </a:p>
            <a:p>
              <a:pPr algn="ctr"/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Elite development pipelines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5" name="Graphic 4" descr="Zoom in with solid fill">
              <a:extLst>
                <a:ext uri="{FF2B5EF4-FFF2-40B4-BE49-F238E27FC236}">
                  <a16:creationId xmlns:a16="http://schemas.microsoft.com/office/drawing/2014/main" id="{56841B5B-D582-B311-165A-92B34A4248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27751" y="2561436"/>
              <a:ext cx="974557" cy="970261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ED4DD5-7C82-26EA-4F0C-591F9E9559A7}"/>
              </a:ext>
            </a:extLst>
          </p:cNvPr>
          <p:cNvGrpSpPr/>
          <p:nvPr/>
        </p:nvGrpSpPr>
        <p:grpSpPr>
          <a:xfrm>
            <a:off x="384048" y="1956816"/>
            <a:ext cx="3840480" cy="2634847"/>
            <a:chOff x="384048" y="1956816"/>
            <a:chExt cx="3840480" cy="2634847"/>
          </a:xfrm>
        </p:grpSpPr>
        <p:sp>
          <p:nvSpPr>
            <p:cNvPr id="9" name="Shape 6"/>
            <p:cNvSpPr/>
            <p:nvPr/>
          </p:nvSpPr>
          <p:spPr>
            <a:xfrm>
              <a:off x="384048" y="1956816"/>
              <a:ext cx="3840480" cy="2423160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384048" y="1956816"/>
              <a:ext cx="3840480" cy="502920"/>
            </a:xfrm>
            <a:prstGeom prst="rect">
              <a:avLst/>
            </a:prstGeom>
            <a:solidFill>
              <a:srgbClr val="B91C1C"/>
            </a:solidFill>
            <a:ln w="127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8"/>
            <p:cNvSpPr/>
            <p:nvPr/>
          </p:nvSpPr>
          <p:spPr>
            <a:xfrm>
              <a:off x="686659" y="1975104"/>
              <a:ext cx="3200400" cy="48463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Jordan — Below Baseline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538946" y="3128623"/>
              <a:ext cx="3529584" cy="1463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Broad delegation, limited specialization</a:t>
              </a:r>
              <a:endParaRPr lang="en-US" sz="1200" b="1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Similar resources to Azerbaijan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2" name="Graphic 21" descr="Zoom out with solid fill">
              <a:extLst>
                <a:ext uri="{FF2B5EF4-FFF2-40B4-BE49-F238E27FC236}">
                  <a16:creationId xmlns:a16="http://schemas.microsoft.com/office/drawing/2014/main" id="{615FED83-8F64-AF82-B818-760041D081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98721" y="2638783"/>
              <a:ext cx="971842" cy="974557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Strategy Clusters</a:t>
            </a:r>
            <a:endParaRPr lang="en-US" sz="25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45" y="927517"/>
            <a:ext cx="6102762" cy="3840791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B2EA897-20FC-BCD3-4912-FE2A655A56CD}"/>
              </a:ext>
            </a:extLst>
          </p:cNvPr>
          <p:cNvGrpSpPr/>
          <p:nvPr/>
        </p:nvGrpSpPr>
        <p:grpSpPr>
          <a:xfrm>
            <a:off x="6876288" y="960120"/>
            <a:ext cx="2048256" cy="1828800"/>
            <a:chOff x="6876288" y="960120"/>
            <a:chExt cx="2048256" cy="1828800"/>
          </a:xfrm>
        </p:grpSpPr>
        <p:sp>
          <p:nvSpPr>
            <p:cNvPr id="7" name="Shape 4"/>
            <p:cNvSpPr/>
            <p:nvPr/>
          </p:nvSpPr>
          <p:spPr>
            <a:xfrm>
              <a:off x="6876288" y="960120"/>
              <a:ext cx="2048256" cy="182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0392" y="1228940"/>
              <a:ext cx="365760" cy="365760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7424928" y="1219246"/>
              <a:ext cx="1426464" cy="3474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0D1B2A"/>
                  </a:solidFill>
                  <a:latin typeface="Calibri"/>
                  <a:ea typeface="Calibri"/>
                  <a:cs typeface="Calibri"/>
                </a:rPr>
                <a:t>SPECIALIST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6986016" y="1581912"/>
              <a:ext cx="1828800" cy="10058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Medals in 1–2 sports:</a:t>
              </a:r>
              <a:endParaRPr lang="en-US" sz="1050"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Jamaica · Kenya · Ethiopia · Morocco</a:t>
              </a:r>
              <a:endParaRPr lang="en-US" sz="105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D39525-F0CA-8BC1-B11D-FE83D487B302}"/>
              </a:ext>
            </a:extLst>
          </p:cNvPr>
          <p:cNvGrpSpPr/>
          <p:nvPr/>
        </p:nvGrpSpPr>
        <p:grpSpPr>
          <a:xfrm>
            <a:off x="6876288" y="2971800"/>
            <a:ext cx="2048256" cy="1828800"/>
            <a:chOff x="6876288" y="2971800"/>
            <a:chExt cx="2048256" cy="1828800"/>
          </a:xfrm>
        </p:grpSpPr>
        <p:sp>
          <p:nvSpPr>
            <p:cNvPr id="12" name="Shape 8"/>
            <p:cNvSpPr/>
            <p:nvPr/>
          </p:nvSpPr>
          <p:spPr>
            <a:xfrm>
              <a:off x="6876288" y="2971800"/>
              <a:ext cx="2048256" cy="182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9770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392" y="3240620"/>
              <a:ext cx="365760" cy="365760"/>
            </a:xfrm>
            <a:prstGeom prst="rect">
              <a:avLst/>
            </a:prstGeom>
          </p:spPr>
        </p:pic>
        <p:sp>
          <p:nvSpPr>
            <p:cNvPr id="15" name="Text 10"/>
            <p:cNvSpPr/>
            <p:nvPr/>
          </p:nvSpPr>
          <p:spPr>
            <a:xfrm>
              <a:off x="7424928" y="3230926"/>
              <a:ext cx="1426464" cy="3474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0D1B2A"/>
                  </a:solidFill>
                  <a:latin typeface="Calibri"/>
                  <a:ea typeface="Calibri"/>
                  <a:cs typeface="Calibri"/>
                </a:rPr>
                <a:t>GENERALIST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6" name="Text 11"/>
            <p:cNvSpPr/>
            <p:nvPr/>
          </p:nvSpPr>
          <p:spPr>
            <a:xfrm>
              <a:off x="6986016" y="3593592"/>
              <a:ext cx="1828800" cy="10058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Medals across many sports:</a:t>
              </a:r>
              <a:endParaRPr lang="en-US" sz="1050"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USA · China · Germany · UK</a:t>
              </a:r>
              <a:endParaRPr lang="en-US" sz="105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7" name="Text 12"/>
          <p:cNvSpPr/>
          <p:nvPr/>
        </p:nvSpPr>
        <p:spPr>
          <a:xfrm>
            <a:off x="-712888" y="4800153"/>
            <a:ext cx="859536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i="1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KMeans</a:t>
            </a:r>
            <a:r>
              <a:rPr lang="en-US" sz="1200" b="1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clustering on medal distribution · PCA for 2D projection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 Country Strategy</a:t>
            </a:r>
            <a:endParaRPr lang="en-US" sz="25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945254-600E-523E-0B03-9CF43CDA2999}"/>
              </a:ext>
            </a:extLst>
          </p:cNvPr>
          <p:cNvGrpSpPr/>
          <p:nvPr/>
        </p:nvGrpSpPr>
        <p:grpSpPr>
          <a:xfrm>
            <a:off x="387513" y="2700252"/>
            <a:ext cx="4118953" cy="2560320"/>
            <a:chOff x="394439" y="2700252"/>
            <a:chExt cx="4174373" cy="2560320"/>
          </a:xfrm>
        </p:grpSpPr>
        <p:sp>
          <p:nvSpPr>
            <p:cNvPr id="6" name="Shape 4"/>
            <p:cNvSpPr/>
            <p:nvPr/>
          </p:nvSpPr>
          <p:spPr>
            <a:xfrm>
              <a:off x="394439" y="2838105"/>
              <a:ext cx="4174373" cy="1738054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97902" y="2834641"/>
              <a:ext cx="4160520" cy="59436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918" y="2926636"/>
              <a:ext cx="402336" cy="402336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1019694" y="2852929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SPECIALIST</a:t>
              </a:r>
              <a:endParaRPr lang="en-US" sz="1400"/>
            </a:p>
          </p:txBody>
        </p:sp>
        <p:sp>
          <p:nvSpPr>
            <p:cNvPr id="10" name="Text 7"/>
            <p:cNvSpPr/>
            <p:nvPr/>
          </p:nvSpPr>
          <p:spPr>
            <a:xfrm>
              <a:off x="560969" y="2700252"/>
              <a:ext cx="3794760" cy="2560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Deepen investment in strongest sports</a:t>
              </a:r>
              <a:endParaRPr lang="en-US" sz="13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Elite coaching &amp; sports science</a:t>
              </a:r>
              <a:endParaRPr lang="en-US" sz="13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talent identification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19748A7-6C60-0EB3-8B6F-A26FE4992231}"/>
              </a:ext>
            </a:extLst>
          </p:cNvPr>
          <p:cNvGrpSpPr/>
          <p:nvPr/>
        </p:nvGrpSpPr>
        <p:grpSpPr>
          <a:xfrm>
            <a:off x="4637115" y="2686395"/>
            <a:ext cx="4122419" cy="2549930"/>
            <a:chOff x="401088" y="795251"/>
            <a:chExt cx="4163983" cy="2560320"/>
          </a:xfrm>
        </p:grpSpPr>
        <p:sp>
          <p:nvSpPr>
            <p:cNvPr id="11" name="Shape 8"/>
            <p:cNvSpPr/>
            <p:nvPr/>
          </p:nvSpPr>
          <p:spPr>
            <a:xfrm>
              <a:off x="401088" y="953886"/>
              <a:ext cx="4163983" cy="1734590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401088" y="943495"/>
              <a:ext cx="4160520" cy="59436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104" y="1014848"/>
              <a:ext cx="402336" cy="402336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1022880" y="961783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GENERALIST</a:t>
              </a:r>
              <a:endParaRPr lang="en-US" sz="1400"/>
            </a:p>
          </p:txBody>
        </p:sp>
        <p:sp>
          <p:nvSpPr>
            <p:cNvPr id="15" name="Text 11"/>
            <p:cNvSpPr/>
            <p:nvPr/>
          </p:nvSpPr>
          <p:spPr>
            <a:xfrm>
              <a:off x="584938" y="795251"/>
              <a:ext cx="3794760" cy="2560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Maintain diversified sport investment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Prioritize pipeline depth &amp; consistency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Develop talent across federations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561A32-9220-66BD-47FC-0FA39E71F94D}"/>
              </a:ext>
            </a:extLst>
          </p:cNvPr>
          <p:cNvGrpSpPr/>
          <p:nvPr/>
        </p:nvGrpSpPr>
        <p:grpSpPr>
          <a:xfrm>
            <a:off x="379751" y="4719404"/>
            <a:ext cx="8380201" cy="256032"/>
            <a:chOff x="384048" y="5329577"/>
            <a:chExt cx="8380201" cy="256032"/>
          </a:xfrm>
        </p:grpSpPr>
        <p:sp>
          <p:nvSpPr>
            <p:cNvPr id="16" name="Shape 12"/>
            <p:cNvSpPr/>
            <p:nvPr/>
          </p:nvSpPr>
          <p:spPr>
            <a:xfrm>
              <a:off x="388345" y="5329577"/>
              <a:ext cx="8375904" cy="256032"/>
            </a:xfrm>
            <a:prstGeom prst="rect">
              <a:avLst/>
            </a:prstGeom>
            <a:solidFill>
              <a:srgbClr val="C9A227">
                <a:alpha val="85000"/>
              </a:srgbClr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3"/>
            <p:cNvSpPr/>
            <p:nvPr/>
          </p:nvSpPr>
          <p:spPr>
            <a:xfrm>
              <a:off x="384048" y="5329577"/>
              <a:ext cx="8375904" cy="25603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100" b="1">
                  <a:solidFill>
                    <a:srgbClr val="152744"/>
                  </a:solidFill>
                  <a:latin typeface="Calibri"/>
                  <a:ea typeface="Calibri"/>
                  <a:cs typeface="Calibri"/>
                </a:rPr>
                <a:t>Feasible:  aligns with existing national strengths, no structural overhaul required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20" name="Graphic 19" descr="Muscular arm outline">
            <a:extLst>
              <a:ext uri="{FF2B5EF4-FFF2-40B4-BE49-F238E27FC236}">
                <a16:creationId xmlns:a16="http://schemas.microsoft.com/office/drawing/2014/main" id="{2C746600-12C3-F04F-8221-80DF431A0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5432" y="895349"/>
            <a:ext cx="1797628" cy="1790701"/>
          </a:xfrm>
          <a:prstGeom prst="rect">
            <a:avLst/>
          </a:prstGeom>
        </p:spPr>
      </p:pic>
      <p:pic>
        <p:nvPicPr>
          <p:cNvPr id="22" name="Graphic 21" descr="Basketball outline">
            <a:extLst>
              <a:ext uri="{FF2B5EF4-FFF2-40B4-BE49-F238E27FC236}">
                <a16:creationId xmlns:a16="http://schemas.microsoft.com/office/drawing/2014/main" id="{CDD38AE4-F810-5505-D6DE-491C90E173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8519" y="905741"/>
            <a:ext cx="1780309" cy="177684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Peak Age Windows by Sport</a:t>
            </a:r>
            <a:endParaRPr lang="en-US" sz="250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14400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FC1C274-A933-5B33-EDB6-68EC4BD16264}"/>
              </a:ext>
            </a:extLst>
          </p:cNvPr>
          <p:cNvGrpSpPr/>
          <p:nvPr/>
        </p:nvGrpSpPr>
        <p:grpSpPr>
          <a:xfrm>
            <a:off x="6720840" y="1005840"/>
            <a:ext cx="2194560" cy="1719072"/>
            <a:chOff x="6720840" y="1005840"/>
            <a:chExt cx="2194560" cy="1719072"/>
          </a:xfrm>
        </p:grpSpPr>
        <p:sp>
          <p:nvSpPr>
            <p:cNvPr id="7" name="Shape 4"/>
            <p:cNvSpPr/>
            <p:nvPr/>
          </p:nvSpPr>
          <p:spPr>
            <a:xfrm>
              <a:off x="6720840" y="1005840"/>
              <a:ext cx="2194560" cy="171907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712" y="1188720"/>
              <a:ext cx="347472" cy="347472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7260336" y="117043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Peak</a:t>
              </a:r>
              <a:endParaRPr lang="en-US" sz="1300"/>
            </a:p>
          </p:txBody>
        </p:sp>
        <p:sp>
          <p:nvSpPr>
            <p:cNvPr id="10" name="Text 6"/>
            <p:cNvSpPr/>
            <p:nvPr/>
          </p:nvSpPr>
          <p:spPr>
            <a:xfrm>
              <a:off x="6839712" y="1600200"/>
              <a:ext cx="1920240" cy="8961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Rhythmic Gymnastics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Median ~18  ·  tight window</a:t>
              </a:r>
              <a:endParaRPr lang="en-US" sz="11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EDFBD9-A13C-A5CE-0AF7-30CF88EEE74B}"/>
              </a:ext>
            </a:extLst>
          </p:cNvPr>
          <p:cNvGrpSpPr/>
          <p:nvPr/>
        </p:nvGrpSpPr>
        <p:grpSpPr>
          <a:xfrm>
            <a:off x="6720840" y="2926080"/>
            <a:ext cx="2194560" cy="1719072"/>
            <a:chOff x="6720840" y="2926080"/>
            <a:chExt cx="2194560" cy="1719072"/>
          </a:xfrm>
        </p:grpSpPr>
        <p:sp>
          <p:nvSpPr>
            <p:cNvPr id="11" name="Shape 7"/>
            <p:cNvSpPr/>
            <p:nvPr/>
          </p:nvSpPr>
          <p:spPr>
            <a:xfrm>
              <a:off x="6720840" y="2926080"/>
              <a:ext cx="2194560" cy="171907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91C1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9712" y="3108960"/>
              <a:ext cx="347472" cy="347472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7260336" y="309067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Late Peak</a:t>
              </a:r>
              <a:endParaRPr lang="en-US" sz="1300"/>
            </a:p>
          </p:txBody>
        </p:sp>
        <p:sp>
          <p:nvSpPr>
            <p:cNvPr id="14" name="Text 9"/>
            <p:cNvSpPr/>
            <p:nvPr/>
          </p:nvSpPr>
          <p:spPr>
            <a:xfrm>
              <a:off x="6839712" y="3520440"/>
              <a:ext cx="1920240" cy="8961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Shooting &amp; Equestrian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Median 32–34  ·  wide window</a:t>
              </a:r>
              <a:endParaRPr lang="en-US" sz="1100"/>
            </a:p>
          </p:txBody>
        </p:sp>
      </p:grpSp>
      <p:sp>
        <p:nvSpPr>
          <p:cNvPr id="15" name="Text 10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medal-winning age by sport  ·  Teal = younger peak   Crimson = experience-based</a:t>
            </a:r>
            <a:endParaRPr lang="en-US" sz="10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27DE9A-D4DB-A135-8D5E-D09A91F1EFEF}"/>
              </a:ext>
            </a:extLst>
          </p:cNvPr>
          <p:cNvGrpSpPr/>
          <p:nvPr/>
        </p:nvGrpSpPr>
        <p:grpSpPr>
          <a:xfrm>
            <a:off x="-5239918" y="1005216"/>
            <a:ext cx="4160520" cy="2240280"/>
            <a:chOff x="384048" y="1005840"/>
            <a:chExt cx="4160520" cy="2240280"/>
          </a:xfrm>
        </p:grpSpPr>
        <p:sp>
          <p:nvSpPr>
            <p:cNvPr id="18" name="Shape 4">
              <a:extLst>
                <a:ext uri="{FF2B5EF4-FFF2-40B4-BE49-F238E27FC236}">
                  <a16:creationId xmlns:a16="http://schemas.microsoft.com/office/drawing/2014/main" id="{7D7A59C4-0FBF-3260-8F1C-A1850A494452}"/>
                </a:ext>
              </a:extLst>
            </p:cNvPr>
            <p:cNvSpPr/>
            <p:nvPr/>
          </p:nvSpPr>
          <p:spPr>
            <a:xfrm>
              <a:off x="384048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5">
              <a:extLst>
                <a:ext uri="{FF2B5EF4-FFF2-40B4-BE49-F238E27FC236}">
                  <a16:creationId xmlns:a16="http://schemas.microsoft.com/office/drawing/2014/main" id="{55CDB5B1-B9D0-9646-572F-35C7CA14FA92}"/>
                </a:ext>
              </a:extLst>
            </p:cNvPr>
            <p:cNvSpPr/>
            <p:nvPr/>
          </p:nvSpPr>
          <p:spPr>
            <a:xfrm>
              <a:off x="384048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4A292056-7A3C-65EF-F381-EC062FA8DBCA}"/>
                </a:ext>
              </a:extLst>
            </p:cNvPr>
            <p:cNvSpPr/>
            <p:nvPr/>
          </p:nvSpPr>
          <p:spPr>
            <a:xfrm>
              <a:off x="765208" y="1015534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Align Training Schedules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C7D35F9E-BEC3-077D-44EE-E6DF434FF2AA}"/>
                </a:ext>
              </a:extLst>
            </p:cNvPr>
            <p:cNvSpPr/>
            <p:nvPr/>
          </p:nvSpPr>
          <p:spPr>
            <a:xfrm>
              <a:off x="562493" y="1719072"/>
              <a:ext cx="2226231" cy="1261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Match intensity to sport-specific peak age windows</a:t>
              </a:r>
              <a:endParaRPr lang="en-US" sz="130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2" name="Graphic 21" descr="Daily calendar with solid fill">
              <a:extLst>
                <a:ext uri="{FF2B5EF4-FFF2-40B4-BE49-F238E27FC236}">
                  <a16:creationId xmlns:a16="http://schemas.microsoft.com/office/drawing/2014/main" id="{F8397A31-3412-7C7F-6BE9-BA4188005C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65493" y="1612882"/>
              <a:ext cx="1490508" cy="148129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9946589-B8FF-9703-31E3-925CA18899B3}"/>
              </a:ext>
            </a:extLst>
          </p:cNvPr>
          <p:cNvGrpSpPr/>
          <p:nvPr/>
        </p:nvGrpSpPr>
        <p:grpSpPr>
          <a:xfrm>
            <a:off x="10084953" y="1005840"/>
            <a:ext cx="4160520" cy="2240280"/>
            <a:chOff x="4754880" y="1005840"/>
            <a:chExt cx="4160520" cy="2240280"/>
          </a:xfrm>
        </p:grpSpPr>
        <p:sp>
          <p:nvSpPr>
            <p:cNvPr id="25" name="Shape 8">
              <a:extLst>
                <a:ext uri="{FF2B5EF4-FFF2-40B4-BE49-F238E27FC236}">
                  <a16:creationId xmlns:a16="http://schemas.microsoft.com/office/drawing/2014/main" id="{53BF0EDC-CA0D-E0C4-A551-96F9AD42AEFC}"/>
                </a:ext>
              </a:extLst>
            </p:cNvPr>
            <p:cNvSpPr/>
            <p:nvPr/>
          </p:nvSpPr>
          <p:spPr>
            <a:xfrm>
              <a:off x="4754880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EBE78557-82FA-5DD0-53E0-37D18266A83E}"/>
                </a:ext>
              </a:extLst>
            </p:cNvPr>
            <p:cNvSpPr/>
            <p:nvPr/>
          </p:nvSpPr>
          <p:spPr>
            <a:xfrm>
              <a:off x="4754880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26F59FD1-3200-AA44-D069-2C0114B636B4}"/>
                </a:ext>
              </a:extLst>
            </p:cNvPr>
            <p:cNvSpPr/>
            <p:nvPr/>
          </p:nvSpPr>
          <p:spPr>
            <a:xfrm>
              <a:off x="5134217" y="1017201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Adjust Selection Criteria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CB4990FB-7D17-6858-74E3-84F71C1F942F}"/>
                </a:ext>
              </a:extLst>
            </p:cNvPr>
            <p:cNvSpPr/>
            <p:nvPr/>
          </p:nvSpPr>
          <p:spPr>
            <a:xfrm>
              <a:off x="4919472" y="1719072"/>
              <a:ext cx="2130589" cy="126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peak vs experience depends on the sport</a:t>
              </a:r>
              <a:endParaRPr lang="en-US" sz="1300"/>
            </a:p>
          </p:txBody>
        </p:sp>
        <p:pic>
          <p:nvPicPr>
            <p:cNvPr id="29" name="Graphic 28" descr="Checkmark with solid fill">
              <a:extLst>
                <a:ext uri="{FF2B5EF4-FFF2-40B4-BE49-F238E27FC236}">
                  <a16:creationId xmlns:a16="http://schemas.microsoft.com/office/drawing/2014/main" id="{4A3114DE-8019-D421-09C2-33842A16D4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29002" y="1736623"/>
              <a:ext cx="1301545" cy="124623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Athlete Development</a:t>
            </a:r>
            <a:endParaRPr lang="en-US" sz="2500"/>
          </a:p>
        </p:txBody>
      </p:sp>
      <p:sp>
        <p:nvSpPr>
          <p:cNvPr id="16" name="Text 12"/>
          <p:cNvSpPr/>
          <p:nvPr/>
        </p:nvSpPr>
        <p:spPr>
          <a:xfrm>
            <a:off x="384048" y="3409165"/>
            <a:ext cx="8375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Required</a:t>
            </a:r>
            <a:endParaRPr lang="en-US" sz="13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F3AF03-0CE6-F23D-678D-0106D630883E}"/>
              </a:ext>
            </a:extLst>
          </p:cNvPr>
          <p:cNvGrpSpPr/>
          <p:nvPr/>
        </p:nvGrpSpPr>
        <p:grpSpPr>
          <a:xfrm>
            <a:off x="384048" y="3822192"/>
            <a:ext cx="2651760" cy="713232"/>
            <a:chOff x="384048" y="3822192"/>
            <a:chExt cx="2651760" cy="713232"/>
          </a:xfrm>
        </p:grpSpPr>
        <p:sp>
          <p:nvSpPr>
            <p:cNvPr id="17" name="Shape 13"/>
            <p:cNvSpPr/>
            <p:nvPr/>
          </p:nvSpPr>
          <p:spPr>
            <a:xfrm>
              <a:off x="384048" y="3822192"/>
              <a:ext cx="2651760" cy="713232"/>
            </a:xfrm>
            <a:prstGeom prst="rect">
              <a:avLst/>
            </a:prstGeom>
            <a:solidFill>
              <a:srgbClr val="152744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440" y="4015027"/>
              <a:ext cx="310896" cy="310896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872773" y="3835872"/>
              <a:ext cx="2071595" cy="685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Long-Term Development Plans</a:t>
              </a:r>
              <a:endParaRPr lang="en-US" sz="11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DDE3AD-BCF3-CD2E-38F4-4BE647038028}"/>
              </a:ext>
            </a:extLst>
          </p:cNvPr>
          <p:cNvGrpSpPr/>
          <p:nvPr/>
        </p:nvGrpSpPr>
        <p:grpSpPr>
          <a:xfrm>
            <a:off x="3218688" y="3822192"/>
            <a:ext cx="2651760" cy="713232"/>
            <a:chOff x="3218688" y="3822192"/>
            <a:chExt cx="2651760" cy="713232"/>
          </a:xfrm>
        </p:grpSpPr>
        <p:sp>
          <p:nvSpPr>
            <p:cNvPr id="20" name="Shape 15"/>
            <p:cNvSpPr/>
            <p:nvPr/>
          </p:nvSpPr>
          <p:spPr>
            <a:xfrm>
              <a:off x="3218688" y="3822192"/>
              <a:ext cx="2651760" cy="713232"/>
            </a:xfrm>
            <a:prstGeom prst="rect">
              <a:avLst/>
            </a:prstGeom>
            <a:solidFill>
              <a:srgbClr val="152744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57169" y="4024245"/>
              <a:ext cx="310896" cy="310896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3218873" y="3831263"/>
              <a:ext cx="2560135" cy="69509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Coaching Education</a:t>
              </a:r>
              <a:endParaRPr lang="en-US" sz="11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FE4D302-615B-9E23-9289-54FF88237D02}"/>
              </a:ext>
            </a:extLst>
          </p:cNvPr>
          <p:cNvGrpSpPr/>
          <p:nvPr/>
        </p:nvGrpSpPr>
        <p:grpSpPr>
          <a:xfrm>
            <a:off x="6053328" y="3822192"/>
            <a:ext cx="2675542" cy="713232"/>
            <a:chOff x="6053328" y="3822192"/>
            <a:chExt cx="2675542" cy="713232"/>
          </a:xfrm>
        </p:grpSpPr>
        <p:sp>
          <p:nvSpPr>
            <p:cNvPr id="23" name="Shape 17"/>
            <p:cNvSpPr/>
            <p:nvPr/>
          </p:nvSpPr>
          <p:spPr>
            <a:xfrm>
              <a:off x="6053328" y="3822192"/>
              <a:ext cx="2651760" cy="713232"/>
            </a:xfrm>
            <a:prstGeom prst="rect">
              <a:avLst/>
            </a:prstGeom>
            <a:solidFill>
              <a:srgbClr val="152744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4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37899" y="4024245"/>
              <a:ext cx="310896" cy="310896"/>
            </a:xfrm>
            <a:prstGeom prst="rect">
              <a:avLst/>
            </a:prstGeom>
          </p:spPr>
        </p:pic>
        <p:sp>
          <p:nvSpPr>
            <p:cNvPr id="25" name="Text 18"/>
            <p:cNvSpPr/>
            <p:nvPr/>
          </p:nvSpPr>
          <p:spPr>
            <a:xfrm>
              <a:off x="6053513" y="3840480"/>
              <a:ext cx="2675357" cy="685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 Monitoring</a:t>
              </a:r>
              <a:endParaRPr lang="en-US" sz="11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6E0405-57D5-2189-FDC5-84E8883F9E92}"/>
              </a:ext>
            </a:extLst>
          </p:cNvPr>
          <p:cNvGrpSpPr/>
          <p:nvPr/>
        </p:nvGrpSpPr>
        <p:grpSpPr>
          <a:xfrm>
            <a:off x="384048" y="4681728"/>
            <a:ext cx="8311380" cy="292608"/>
            <a:chOff x="384048" y="4681728"/>
            <a:chExt cx="8311380" cy="292608"/>
          </a:xfrm>
        </p:grpSpPr>
        <p:sp>
          <p:nvSpPr>
            <p:cNvPr id="26" name="Shape 19"/>
            <p:cNvSpPr/>
            <p:nvPr/>
          </p:nvSpPr>
          <p:spPr>
            <a:xfrm>
              <a:off x="384048" y="4686336"/>
              <a:ext cx="8311380" cy="288000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0"/>
            <p:cNvSpPr/>
            <p:nvPr/>
          </p:nvSpPr>
          <p:spPr>
            <a:xfrm>
              <a:off x="520839" y="4681728"/>
              <a:ext cx="8101584" cy="29260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Feasible: data-informed adjustments to existing pipelines, shareable globally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3CE589-F71C-86DE-5D7B-E80949C56903}"/>
              </a:ext>
            </a:extLst>
          </p:cNvPr>
          <p:cNvGrpSpPr/>
          <p:nvPr/>
        </p:nvGrpSpPr>
        <p:grpSpPr>
          <a:xfrm>
            <a:off x="268826" y="996622"/>
            <a:ext cx="4160520" cy="2240280"/>
            <a:chOff x="384048" y="1005840"/>
            <a:chExt cx="4160520" cy="2240280"/>
          </a:xfrm>
        </p:grpSpPr>
        <p:sp>
          <p:nvSpPr>
            <p:cNvPr id="6" name="Shape 4"/>
            <p:cNvSpPr/>
            <p:nvPr/>
          </p:nvSpPr>
          <p:spPr>
            <a:xfrm>
              <a:off x="384048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765208" y="1015534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Align Training Schedules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562493" y="1719072"/>
              <a:ext cx="2226231" cy="1261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Match intensity to sport-specific peak age windows</a:t>
              </a:r>
              <a:endParaRPr lang="en-US" sz="130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5" name="Graphic 4" descr="Daily calendar with solid fill">
              <a:extLst>
                <a:ext uri="{FF2B5EF4-FFF2-40B4-BE49-F238E27FC236}">
                  <a16:creationId xmlns:a16="http://schemas.microsoft.com/office/drawing/2014/main" id="{97628374-8509-95C6-3BF5-ACBE5C18A3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65493" y="1612882"/>
              <a:ext cx="1490508" cy="148129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6F2E025-EAE7-DDB8-EAB8-CF075921E853}"/>
              </a:ext>
            </a:extLst>
          </p:cNvPr>
          <p:cNvGrpSpPr/>
          <p:nvPr/>
        </p:nvGrpSpPr>
        <p:grpSpPr>
          <a:xfrm>
            <a:off x="4718009" y="1005840"/>
            <a:ext cx="4160520" cy="2240280"/>
            <a:chOff x="4754880" y="1005840"/>
            <a:chExt cx="4160520" cy="2240280"/>
          </a:xfrm>
        </p:grpSpPr>
        <p:sp>
          <p:nvSpPr>
            <p:cNvPr id="11" name="Shape 8"/>
            <p:cNvSpPr/>
            <p:nvPr/>
          </p:nvSpPr>
          <p:spPr>
            <a:xfrm>
              <a:off x="4754880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4754880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0"/>
            <p:cNvSpPr/>
            <p:nvPr/>
          </p:nvSpPr>
          <p:spPr>
            <a:xfrm>
              <a:off x="5134217" y="1017201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Adjust Selection Criteria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5" name="Text 11"/>
            <p:cNvSpPr/>
            <p:nvPr/>
          </p:nvSpPr>
          <p:spPr>
            <a:xfrm>
              <a:off x="4919472" y="1719072"/>
              <a:ext cx="2130589" cy="126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peak vs experience depends on the sport</a:t>
              </a:r>
              <a:endParaRPr lang="en-US" sz="1300"/>
            </a:p>
          </p:txBody>
        </p:sp>
        <p:pic>
          <p:nvPicPr>
            <p:cNvPr id="28" name="Graphic 27" descr="Checkmark with solid fill">
              <a:extLst>
                <a:ext uri="{FF2B5EF4-FFF2-40B4-BE49-F238E27FC236}">
                  <a16:creationId xmlns:a16="http://schemas.microsoft.com/office/drawing/2014/main" id="{918D346E-2A82-565C-82E7-9547DF88DC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29002" y="1736623"/>
              <a:ext cx="1301545" cy="124623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5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6432F3-A1AB-A4D2-039E-4E8DA5A5BCD3}"/>
              </a:ext>
            </a:extLst>
          </p:cNvPr>
          <p:cNvGrpSpPr/>
          <p:nvPr/>
        </p:nvGrpSpPr>
        <p:grpSpPr>
          <a:xfrm>
            <a:off x="384048" y="987552"/>
            <a:ext cx="8375904" cy="1078992"/>
            <a:chOff x="384048" y="987552"/>
            <a:chExt cx="8375904" cy="1078992"/>
          </a:xfrm>
        </p:grpSpPr>
        <p:sp>
          <p:nvSpPr>
            <p:cNvPr id="6" name="Shape 4"/>
            <p:cNvSpPr/>
            <p:nvPr/>
          </p:nvSpPr>
          <p:spPr>
            <a:xfrm>
              <a:off x="384048" y="987552"/>
              <a:ext cx="8375904" cy="1078992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987552"/>
              <a:ext cx="146304" cy="107899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1098380"/>
              <a:ext cx="457200" cy="457200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1207008" y="1162732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Angeles</a:t>
              </a:r>
              <a:endParaRPr lang="en-US" sz="1400"/>
            </a:p>
          </p:txBody>
        </p:sp>
        <p:sp>
          <p:nvSpPr>
            <p:cNvPr id="10" name="Text 7"/>
            <p:cNvSpPr/>
            <p:nvPr/>
          </p:nvSpPr>
          <p:spPr>
            <a:xfrm>
              <a:off x="1207008" y="1444752"/>
              <a:ext cx="7406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Allocate transit, medical &amp; staffing by each zone's athlete load</a:t>
              </a:r>
              <a:endParaRPr lang="en-US" sz="13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D98C84-E599-2687-D939-AFC910D748D7}"/>
              </a:ext>
            </a:extLst>
          </p:cNvPr>
          <p:cNvGrpSpPr/>
          <p:nvPr/>
        </p:nvGrpSpPr>
        <p:grpSpPr>
          <a:xfrm>
            <a:off x="384048" y="2194560"/>
            <a:ext cx="8375904" cy="1078992"/>
            <a:chOff x="384048" y="2194560"/>
            <a:chExt cx="8375904" cy="1078992"/>
          </a:xfrm>
        </p:grpSpPr>
        <p:sp>
          <p:nvSpPr>
            <p:cNvPr id="11" name="Shape 8"/>
            <p:cNvSpPr/>
            <p:nvPr/>
          </p:nvSpPr>
          <p:spPr>
            <a:xfrm>
              <a:off x="384048" y="2194560"/>
              <a:ext cx="8375904" cy="1078992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384048" y="2194560"/>
              <a:ext cx="146304" cy="1078992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" y="2322576"/>
              <a:ext cx="457200" cy="457200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1207008" y="2365443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NOCs Worldwide</a:t>
              </a:r>
              <a:endParaRPr lang="en-US" sz="1400"/>
            </a:p>
          </p:txBody>
        </p:sp>
        <p:sp>
          <p:nvSpPr>
            <p:cNvPr id="15" name="Text 11"/>
            <p:cNvSpPr/>
            <p:nvPr/>
          </p:nvSpPr>
          <p:spPr>
            <a:xfrm>
              <a:off x="1207008" y="2651760"/>
              <a:ext cx="7406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Benchmark against peers and reallocate resources to what actually works</a:t>
              </a:r>
              <a:endParaRPr lang="en-US" sz="13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A5C706-1A19-3D9F-6C88-790991D9073D}"/>
              </a:ext>
            </a:extLst>
          </p:cNvPr>
          <p:cNvGrpSpPr/>
          <p:nvPr/>
        </p:nvGrpSpPr>
        <p:grpSpPr>
          <a:xfrm>
            <a:off x="384048" y="3401568"/>
            <a:ext cx="8375904" cy="1078992"/>
            <a:chOff x="384048" y="3401568"/>
            <a:chExt cx="8375904" cy="1078992"/>
          </a:xfrm>
        </p:grpSpPr>
        <p:sp>
          <p:nvSpPr>
            <p:cNvPr id="16" name="Shape 12"/>
            <p:cNvSpPr/>
            <p:nvPr/>
          </p:nvSpPr>
          <p:spPr>
            <a:xfrm>
              <a:off x="384048" y="3401568"/>
              <a:ext cx="8375904" cy="1078992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3"/>
            <p:cNvSpPr/>
            <p:nvPr/>
          </p:nvSpPr>
          <p:spPr>
            <a:xfrm>
              <a:off x="384048" y="3401568"/>
              <a:ext cx="146304" cy="1078992"/>
            </a:xfrm>
            <a:prstGeom prst="rect">
              <a:avLst/>
            </a:prstGeom>
            <a:solidFill>
              <a:srgbClr val="B91C1C"/>
            </a:solidFill>
            <a:ln w="127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" y="3529584"/>
              <a:ext cx="457200" cy="457200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1207008" y="3572451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Athletes Globally</a:t>
              </a:r>
              <a:endParaRPr lang="en-US" sz="1400"/>
            </a:p>
          </p:txBody>
        </p:sp>
        <p:sp>
          <p:nvSpPr>
            <p:cNvPr id="20" name="Text 15"/>
            <p:cNvSpPr/>
            <p:nvPr/>
          </p:nvSpPr>
          <p:spPr>
            <a:xfrm>
              <a:off x="1207008" y="3858768"/>
              <a:ext cx="7406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 and peak at the right time using sport-specific pipelines</a:t>
              </a:r>
              <a:endParaRPr lang="en-US" sz="13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DD7662-C2B6-52FA-6AEE-76BE8FB3312C}"/>
              </a:ext>
            </a:extLst>
          </p:cNvPr>
          <p:cNvGrpSpPr/>
          <p:nvPr/>
        </p:nvGrpSpPr>
        <p:grpSpPr>
          <a:xfrm>
            <a:off x="384048" y="4645152"/>
            <a:ext cx="8375904" cy="347472"/>
            <a:chOff x="384048" y="4645152"/>
            <a:chExt cx="8375904" cy="347472"/>
          </a:xfrm>
        </p:grpSpPr>
        <p:sp>
          <p:nvSpPr>
            <p:cNvPr id="21" name="Shape 16"/>
            <p:cNvSpPr/>
            <p:nvPr/>
          </p:nvSpPr>
          <p:spPr>
            <a:xfrm>
              <a:off x="384048" y="4645152"/>
              <a:ext cx="8375904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7"/>
            <p:cNvSpPr/>
            <p:nvPr/>
          </p:nvSpPr>
          <p:spPr>
            <a:xfrm>
              <a:off x="384048" y="4645152"/>
              <a:ext cx="837590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More effective, sustainable, and equitable Olympic planning for LA 2028 and beyond</a:t>
              </a:r>
              <a:endParaRPr lang="en-US" sz="1200"/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Cited</a:t>
            </a:r>
            <a:endParaRPr lang="en-US" sz="25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966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" y="9601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3ADAB7-1027-3EA2-BE2C-2EDCB4B0495B}"/>
              </a:ext>
            </a:extLst>
          </p:cNvPr>
          <p:cNvGrpSpPr/>
          <p:nvPr/>
        </p:nvGrpSpPr>
        <p:grpSpPr>
          <a:xfrm>
            <a:off x="804672" y="1339180"/>
            <a:ext cx="8028432" cy="960120"/>
            <a:chOff x="804672" y="1380744"/>
            <a:chExt cx="8028432" cy="960120"/>
          </a:xfrm>
        </p:grpSpPr>
        <p:sp>
          <p:nvSpPr>
            <p:cNvPr id="7" name="Shape 4"/>
            <p:cNvSpPr/>
            <p:nvPr/>
          </p:nvSpPr>
          <p:spPr>
            <a:xfrm>
              <a:off x="804672" y="1472184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5"/>
            <p:cNvSpPr/>
            <p:nvPr/>
          </p:nvSpPr>
          <p:spPr>
            <a:xfrm>
              <a:off x="969264" y="1380744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Analysis Competitive Event Guidelines: Olympic athlete-event data 1896–2016</a:t>
              </a:r>
              <a:endParaRPr lang="en-US" sz="1100"/>
            </a:p>
          </p:txBody>
        </p:sp>
        <p:sp>
          <p:nvSpPr>
            <p:cNvPr id="9" name="Shape 6"/>
            <p:cNvSpPr/>
            <p:nvPr/>
          </p:nvSpPr>
          <p:spPr>
            <a:xfrm>
              <a:off x="804672" y="1792224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969264" y="1700784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Analysis Competitive Event Guidelines: NOC region mapping</a:t>
              </a:r>
              <a:endParaRPr lang="en-US" sz="1100"/>
            </a:p>
          </p:txBody>
        </p:sp>
        <p:sp>
          <p:nvSpPr>
            <p:cNvPr id="11" name="Shape 8"/>
            <p:cNvSpPr/>
            <p:nvPr/>
          </p:nvSpPr>
          <p:spPr>
            <a:xfrm>
              <a:off x="804672" y="2112264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969264" y="2020824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World Bank Open Data: GDP per capita (current US$) &amp; population</a:t>
              </a:r>
              <a:endParaRPr lang="en-US" sz="110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35A93DF-65B3-F053-0E52-A48F27D1C5B9}"/>
              </a:ext>
            </a:extLst>
          </p:cNvPr>
          <p:cNvGrpSpPr/>
          <p:nvPr/>
        </p:nvGrpSpPr>
        <p:grpSpPr>
          <a:xfrm>
            <a:off x="384048" y="2412907"/>
            <a:ext cx="8357616" cy="384048"/>
            <a:chOff x="384048" y="2523744"/>
            <a:chExt cx="8357616" cy="384048"/>
          </a:xfrm>
        </p:grpSpPr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4048" y="2560320"/>
              <a:ext cx="310896" cy="310896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786384" y="2523744"/>
              <a:ext cx="7955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Software &amp; Libraries</a:t>
              </a:r>
              <a:endParaRPr lang="en-US" sz="14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321C4B-FE1C-B67B-B550-2078EFB96624}"/>
              </a:ext>
            </a:extLst>
          </p:cNvPr>
          <p:cNvGrpSpPr/>
          <p:nvPr/>
        </p:nvGrpSpPr>
        <p:grpSpPr>
          <a:xfrm>
            <a:off x="804672" y="2778114"/>
            <a:ext cx="8028432" cy="960120"/>
            <a:chOff x="804672" y="2944368"/>
            <a:chExt cx="8028432" cy="960120"/>
          </a:xfrm>
        </p:grpSpPr>
        <p:sp>
          <p:nvSpPr>
            <p:cNvPr id="15" name="Shape 11"/>
            <p:cNvSpPr/>
            <p:nvPr/>
          </p:nvSpPr>
          <p:spPr>
            <a:xfrm>
              <a:off x="804672" y="3035808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2"/>
            <p:cNvSpPr/>
            <p:nvPr/>
          </p:nvSpPr>
          <p:spPr>
            <a:xfrm>
              <a:off x="969264" y="2944368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 · Pandas · NumPy  (data wrangling)</a:t>
              </a:r>
              <a:endParaRPr lang="en-US" sz="1100"/>
            </a:p>
          </p:txBody>
        </p:sp>
        <p:sp>
          <p:nvSpPr>
            <p:cNvPr id="17" name="Shape 13"/>
            <p:cNvSpPr/>
            <p:nvPr/>
          </p:nvSpPr>
          <p:spPr>
            <a:xfrm>
              <a:off x="804672" y="3355848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4"/>
            <p:cNvSpPr/>
            <p:nvPr/>
          </p:nvSpPr>
          <p:spPr>
            <a:xfrm>
              <a:off x="969264" y="3264408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  (regression &amp; KMeans clustering)</a:t>
              </a:r>
              <a:endParaRPr lang="en-US" sz="1100"/>
            </a:p>
          </p:txBody>
        </p:sp>
        <p:sp>
          <p:nvSpPr>
            <p:cNvPr id="19" name="Shape 15"/>
            <p:cNvSpPr/>
            <p:nvPr/>
          </p:nvSpPr>
          <p:spPr>
            <a:xfrm>
              <a:off x="804672" y="3675888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6"/>
            <p:cNvSpPr/>
            <p:nvPr/>
          </p:nvSpPr>
          <p:spPr>
            <a:xfrm>
              <a:off x="969264" y="3584448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Matplotlib · Seaborn · Jupyter Notebooks</a:t>
              </a:r>
              <a:endParaRPr lang="en-US" sz="110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3657C6-8189-2D78-C349-0AF957FA9140}"/>
              </a:ext>
            </a:extLst>
          </p:cNvPr>
          <p:cNvGrpSpPr/>
          <p:nvPr/>
        </p:nvGrpSpPr>
        <p:grpSpPr>
          <a:xfrm>
            <a:off x="384048" y="3851841"/>
            <a:ext cx="8357616" cy="384048"/>
            <a:chOff x="384048" y="4087368"/>
            <a:chExt cx="8357616" cy="384048"/>
          </a:xfrm>
        </p:grpSpPr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048" y="4123944"/>
              <a:ext cx="310896" cy="310896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786384" y="4087368"/>
              <a:ext cx="7955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Repository</a:t>
              </a:r>
              <a:endParaRPr lang="en-US" sz="140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242C26-01C9-0A26-CD27-126CEBB6177F}"/>
              </a:ext>
            </a:extLst>
          </p:cNvPr>
          <p:cNvGrpSpPr/>
          <p:nvPr/>
        </p:nvGrpSpPr>
        <p:grpSpPr>
          <a:xfrm>
            <a:off x="804672" y="4196265"/>
            <a:ext cx="8028432" cy="320040"/>
            <a:chOff x="804672" y="4507992"/>
            <a:chExt cx="8028432" cy="320040"/>
          </a:xfrm>
        </p:grpSpPr>
        <p:sp>
          <p:nvSpPr>
            <p:cNvPr id="23" name="Shape 18"/>
            <p:cNvSpPr/>
            <p:nvPr/>
          </p:nvSpPr>
          <p:spPr>
            <a:xfrm>
              <a:off x="804672" y="4599432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9"/>
            <p:cNvSpPr/>
            <p:nvPr/>
          </p:nvSpPr>
          <p:spPr>
            <a:xfrm>
              <a:off x="969264" y="4507992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GitHub: full codebase and data pipeline available for audit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5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i="1">
              <a:solidFill>
                <a:srgbClr val="E8C97A"/>
              </a:solidFill>
              <a:ea typeface="Calibri"/>
              <a:cs typeface="Calibri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BF9D08F-3B73-49B1-927D-A4D6F6A0B1D7}"/>
              </a:ext>
            </a:extLst>
          </p:cNvPr>
          <p:cNvGrpSpPr/>
          <p:nvPr/>
        </p:nvGrpSpPr>
        <p:grpSpPr>
          <a:xfrm>
            <a:off x="876439" y="-937260"/>
            <a:ext cx="1828800" cy="347472"/>
            <a:chOff x="329184" y="4663440"/>
            <a:chExt cx="1828800" cy="347472"/>
          </a:xfrm>
        </p:grpSpPr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3C2C4874-0CD4-5508-DD13-5978A16346F1}"/>
                </a:ext>
              </a:extLst>
            </p:cNvPr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Text 8">
              <a:extLst>
                <a:ext uri="{FF2B5EF4-FFF2-40B4-BE49-F238E27FC236}">
                  <a16:creationId xmlns:a16="http://schemas.microsoft.com/office/drawing/2014/main" id="{DD8A0F91-F1F5-6EC4-68EC-471080271912}"/>
                </a:ext>
              </a:extLst>
            </p:cNvPr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AF541C2-E338-CD35-9539-8096EDF8FEDC}"/>
              </a:ext>
            </a:extLst>
          </p:cNvPr>
          <p:cNvGrpSpPr/>
          <p:nvPr/>
        </p:nvGrpSpPr>
        <p:grpSpPr>
          <a:xfrm>
            <a:off x="3657046" y="-937259"/>
            <a:ext cx="1828800" cy="347472"/>
            <a:chOff x="2340864" y="4663440"/>
            <a:chExt cx="1828800" cy="347472"/>
          </a:xfrm>
        </p:grpSpPr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B568FFC-C49C-A804-AE18-3CC7CEAD349E}"/>
                </a:ext>
              </a:extLst>
            </p:cNvPr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Text 10">
              <a:extLst>
                <a:ext uri="{FF2B5EF4-FFF2-40B4-BE49-F238E27FC236}">
                  <a16:creationId xmlns:a16="http://schemas.microsoft.com/office/drawing/2014/main" id="{C9298464-40C1-787A-DF5F-815F3F7AB8A5}"/>
                </a:ext>
              </a:extLst>
            </p:cNvPr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Angeles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A67C27A-3B2D-BCFB-DBAE-3A1EE906A16E}"/>
              </a:ext>
            </a:extLst>
          </p:cNvPr>
          <p:cNvGrpSpPr/>
          <p:nvPr/>
        </p:nvGrpSpPr>
        <p:grpSpPr>
          <a:xfrm>
            <a:off x="7185800" y="-937260"/>
            <a:ext cx="1828800" cy="347472"/>
            <a:chOff x="4352544" y="4663440"/>
            <a:chExt cx="1828800" cy="347472"/>
          </a:xfrm>
        </p:grpSpPr>
        <p:sp>
          <p:nvSpPr>
            <p:cNvPr id="50" name="Shape 11">
              <a:extLst>
                <a:ext uri="{FF2B5EF4-FFF2-40B4-BE49-F238E27FC236}">
                  <a16:creationId xmlns:a16="http://schemas.microsoft.com/office/drawing/2014/main" id="{D7C423B3-D736-08D9-C052-01B2C17DD10F}"/>
                </a:ext>
              </a:extLst>
            </p:cNvPr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52BD2909-1615-EF32-0F51-40E51672483F}"/>
                </a:ext>
              </a:extLst>
            </p:cNvPr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NOCs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6" name="Shape 0">
            <a:extLst>
              <a:ext uri="{FF2B5EF4-FFF2-40B4-BE49-F238E27FC236}">
                <a16:creationId xmlns:a16="http://schemas.microsoft.com/office/drawing/2014/main" id="{FAF71B78-9197-DA69-9742-7B1E80799A91}"/>
              </a:ext>
            </a:extLst>
          </p:cNvPr>
          <p:cNvSpPr/>
          <p:nvPr/>
        </p:nvSpPr>
        <p:spPr>
          <a:xfrm>
            <a:off x="-166255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9184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Homestead FBLA  ·  Data Analysis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9184" y="1478280"/>
            <a:ext cx="850392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Thank You</a:t>
            </a:r>
            <a:r>
              <a:rPr lang="en-US" sz="9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  <a:endParaRPr lang="en-US" sz="9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6293" y="2914805"/>
            <a:ext cx="8321040" cy="786384"/>
          </a:xfrm>
          <a:prstGeom prst="rect">
            <a:avLst/>
          </a:prstGeom>
          <a:solidFill>
            <a:srgbClr val="152744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41112" y="2942237"/>
            <a:ext cx="80010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are now open to questions</a:t>
            </a:r>
            <a:endParaRPr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6293" y="401881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Aaron  ·  Shourya  ·  Roshan  ·  Homestead FBLA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8B16D6-A119-4C94-33CE-98B90DFBAD3F}"/>
              </a:ext>
            </a:extLst>
          </p:cNvPr>
          <p:cNvGrpSpPr/>
          <p:nvPr/>
        </p:nvGrpSpPr>
        <p:grpSpPr>
          <a:xfrm>
            <a:off x="329184" y="4500154"/>
            <a:ext cx="1828800" cy="347472"/>
            <a:chOff x="329184" y="4663440"/>
            <a:chExt cx="1828800" cy="347472"/>
          </a:xfrm>
        </p:grpSpPr>
        <p:sp>
          <p:nvSpPr>
            <p:cNvPr id="9" name="Shape 7"/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611565-B3DC-4172-6A8B-DB5F734A928E}"/>
              </a:ext>
            </a:extLst>
          </p:cNvPr>
          <p:cNvGrpSpPr/>
          <p:nvPr/>
        </p:nvGrpSpPr>
        <p:grpSpPr>
          <a:xfrm>
            <a:off x="2340864" y="4500154"/>
            <a:ext cx="1828800" cy="347472"/>
            <a:chOff x="2340864" y="4663440"/>
            <a:chExt cx="1828800" cy="347472"/>
          </a:xfrm>
        </p:grpSpPr>
        <p:sp>
          <p:nvSpPr>
            <p:cNvPr id="11" name="Shape 9"/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Angeles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C3BFF73-8760-119B-6999-98A5625FA36B}"/>
              </a:ext>
            </a:extLst>
          </p:cNvPr>
          <p:cNvGrpSpPr/>
          <p:nvPr/>
        </p:nvGrpSpPr>
        <p:grpSpPr>
          <a:xfrm>
            <a:off x="4352544" y="4500154"/>
            <a:ext cx="1828800" cy="347472"/>
            <a:chOff x="4352544" y="4663440"/>
            <a:chExt cx="1828800" cy="347472"/>
          </a:xfrm>
        </p:grpSpPr>
        <p:sp>
          <p:nvSpPr>
            <p:cNvPr id="13" name="Shape 11"/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NOCs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663</Words>
  <Application>Microsoft Macintosh PowerPoint</Application>
  <PresentationFormat>On-screen Show (16:9)</PresentationFormat>
  <Paragraphs>154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sbatra163</cp:lastModifiedBy>
  <cp:revision>2</cp:revision>
  <dcterms:created xsi:type="dcterms:W3CDTF">2026-04-04T20:21:39Z</dcterms:created>
  <dcterms:modified xsi:type="dcterms:W3CDTF">2026-06-25T06:59:39Z</dcterms:modified>
</cp:coreProperties>
</file>